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6" r:id="rId7"/>
    <p:sldId id="267"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68" r:id="rId24"/>
    <p:sldId id="284" r:id="rId25"/>
    <p:sldId id="285" r:id="rId26"/>
    <p:sldId id="286" r:id="rId27"/>
    <p:sldId id="287" r:id="rId28"/>
    <p:sldId id="288" r:id="rId29"/>
    <p:sldId id="289" r:id="rId30"/>
    <p:sldId id="290" r:id="rId31"/>
    <p:sldId id="29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22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2750E-958A-3B65-3896-77A7932CA8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3D115F1-D4AC-F784-A5DE-489E4E68A9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8D2C20F-540F-6E9F-C4B8-E74EBD66F5E1}"/>
              </a:ext>
            </a:extLst>
          </p:cNvPr>
          <p:cNvSpPr>
            <a:spLocks noGrp="1"/>
          </p:cNvSpPr>
          <p:nvPr>
            <p:ph type="dt" sz="half" idx="10"/>
          </p:nvPr>
        </p:nvSpPr>
        <p:spPr/>
        <p:txBody>
          <a:bodyPr/>
          <a:lstStyle/>
          <a:p>
            <a:fld id="{43ADEBA8-DF25-45F8-BF53-B834508E5BCD}" type="datetimeFigureOut">
              <a:rPr lang="en-IN" smtClean="0"/>
              <a:t>21-02-2024</a:t>
            </a:fld>
            <a:endParaRPr lang="en-IN"/>
          </a:p>
        </p:txBody>
      </p:sp>
      <p:sp>
        <p:nvSpPr>
          <p:cNvPr id="5" name="Footer Placeholder 4">
            <a:extLst>
              <a:ext uri="{FF2B5EF4-FFF2-40B4-BE49-F238E27FC236}">
                <a16:creationId xmlns:a16="http://schemas.microsoft.com/office/drawing/2014/main" id="{559AF940-BFF3-7F14-3ED8-01188F4323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881C6B-974C-57FB-5C92-8FB1B9438128}"/>
              </a:ext>
            </a:extLst>
          </p:cNvPr>
          <p:cNvSpPr>
            <a:spLocks noGrp="1"/>
          </p:cNvSpPr>
          <p:nvPr>
            <p:ph type="sldNum" sz="quarter" idx="12"/>
          </p:nvPr>
        </p:nvSpPr>
        <p:spPr/>
        <p:txBody>
          <a:bodyPr/>
          <a:lstStyle/>
          <a:p>
            <a:fld id="{9414B0E6-BA3E-4BC3-8155-47158E97F7EA}" type="slidenum">
              <a:rPr lang="en-IN" smtClean="0"/>
              <a:t>‹#›</a:t>
            </a:fld>
            <a:endParaRPr lang="en-IN"/>
          </a:p>
        </p:txBody>
      </p:sp>
    </p:spTree>
    <p:extLst>
      <p:ext uri="{BB962C8B-B14F-4D97-AF65-F5344CB8AC3E}">
        <p14:creationId xmlns:p14="http://schemas.microsoft.com/office/powerpoint/2010/main" val="506619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B81CD-52FF-C0C5-5AB0-9F49F9E25D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371BC5-861D-B7FC-5B9E-F1661C7B37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D3CABB-6861-E15B-02D0-28DCB1BC0B64}"/>
              </a:ext>
            </a:extLst>
          </p:cNvPr>
          <p:cNvSpPr>
            <a:spLocks noGrp="1"/>
          </p:cNvSpPr>
          <p:nvPr>
            <p:ph type="dt" sz="half" idx="10"/>
          </p:nvPr>
        </p:nvSpPr>
        <p:spPr/>
        <p:txBody>
          <a:bodyPr/>
          <a:lstStyle/>
          <a:p>
            <a:fld id="{43ADEBA8-DF25-45F8-BF53-B834508E5BCD}" type="datetimeFigureOut">
              <a:rPr lang="en-IN" smtClean="0"/>
              <a:t>21-02-2024</a:t>
            </a:fld>
            <a:endParaRPr lang="en-IN"/>
          </a:p>
        </p:txBody>
      </p:sp>
      <p:sp>
        <p:nvSpPr>
          <p:cNvPr id="5" name="Footer Placeholder 4">
            <a:extLst>
              <a:ext uri="{FF2B5EF4-FFF2-40B4-BE49-F238E27FC236}">
                <a16:creationId xmlns:a16="http://schemas.microsoft.com/office/drawing/2014/main" id="{DAB6CFDE-5E79-A134-AFAA-FEBE4FF782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B74033-56FA-B997-131F-7388C77B376F}"/>
              </a:ext>
            </a:extLst>
          </p:cNvPr>
          <p:cNvSpPr>
            <a:spLocks noGrp="1"/>
          </p:cNvSpPr>
          <p:nvPr>
            <p:ph type="sldNum" sz="quarter" idx="12"/>
          </p:nvPr>
        </p:nvSpPr>
        <p:spPr/>
        <p:txBody>
          <a:bodyPr/>
          <a:lstStyle/>
          <a:p>
            <a:fld id="{9414B0E6-BA3E-4BC3-8155-47158E97F7EA}" type="slidenum">
              <a:rPr lang="en-IN" smtClean="0"/>
              <a:t>‹#›</a:t>
            </a:fld>
            <a:endParaRPr lang="en-IN"/>
          </a:p>
        </p:txBody>
      </p:sp>
    </p:spTree>
    <p:extLst>
      <p:ext uri="{BB962C8B-B14F-4D97-AF65-F5344CB8AC3E}">
        <p14:creationId xmlns:p14="http://schemas.microsoft.com/office/powerpoint/2010/main" val="4003292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487BE-6BEC-C76A-3B20-42C6067E0F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BBC62A8-6B1F-6196-0548-E481919EE0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0012D2-9A2F-7155-608D-4F98687E4A8D}"/>
              </a:ext>
            </a:extLst>
          </p:cNvPr>
          <p:cNvSpPr>
            <a:spLocks noGrp="1"/>
          </p:cNvSpPr>
          <p:nvPr>
            <p:ph type="dt" sz="half" idx="10"/>
          </p:nvPr>
        </p:nvSpPr>
        <p:spPr/>
        <p:txBody>
          <a:bodyPr/>
          <a:lstStyle/>
          <a:p>
            <a:fld id="{43ADEBA8-DF25-45F8-BF53-B834508E5BCD}" type="datetimeFigureOut">
              <a:rPr lang="en-IN" smtClean="0"/>
              <a:t>21-02-2024</a:t>
            </a:fld>
            <a:endParaRPr lang="en-IN"/>
          </a:p>
        </p:txBody>
      </p:sp>
      <p:sp>
        <p:nvSpPr>
          <p:cNvPr id="5" name="Footer Placeholder 4">
            <a:extLst>
              <a:ext uri="{FF2B5EF4-FFF2-40B4-BE49-F238E27FC236}">
                <a16:creationId xmlns:a16="http://schemas.microsoft.com/office/drawing/2014/main" id="{96545A87-B69C-F3F4-DB3C-02FAB062D3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B6DE0B-1B9C-46E3-39FF-8CE587B170D1}"/>
              </a:ext>
            </a:extLst>
          </p:cNvPr>
          <p:cNvSpPr>
            <a:spLocks noGrp="1"/>
          </p:cNvSpPr>
          <p:nvPr>
            <p:ph type="sldNum" sz="quarter" idx="12"/>
          </p:nvPr>
        </p:nvSpPr>
        <p:spPr/>
        <p:txBody>
          <a:bodyPr/>
          <a:lstStyle/>
          <a:p>
            <a:fld id="{9414B0E6-BA3E-4BC3-8155-47158E97F7EA}" type="slidenum">
              <a:rPr lang="en-IN" smtClean="0"/>
              <a:t>‹#›</a:t>
            </a:fld>
            <a:endParaRPr lang="en-IN"/>
          </a:p>
        </p:txBody>
      </p:sp>
    </p:spTree>
    <p:extLst>
      <p:ext uri="{BB962C8B-B14F-4D97-AF65-F5344CB8AC3E}">
        <p14:creationId xmlns:p14="http://schemas.microsoft.com/office/powerpoint/2010/main" val="2291760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72580-00EE-A3F1-9ED4-06B797E8CE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C1A3A0-1093-3D0D-C6E6-6843A8397C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3A35F7-FE3B-68C8-9A4F-70A1632498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694BAB-D4D1-6A23-ED89-C9E85733020B}"/>
              </a:ext>
            </a:extLst>
          </p:cNvPr>
          <p:cNvSpPr>
            <a:spLocks noGrp="1"/>
          </p:cNvSpPr>
          <p:nvPr>
            <p:ph type="dt" sz="half" idx="10"/>
          </p:nvPr>
        </p:nvSpPr>
        <p:spPr/>
        <p:txBody>
          <a:bodyPr/>
          <a:lstStyle/>
          <a:p>
            <a:fld id="{43ADEBA8-DF25-45F8-BF53-B834508E5BCD}" type="datetimeFigureOut">
              <a:rPr lang="en-IN" smtClean="0"/>
              <a:t>21-02-2024</a:t>
            </a:fld>
            <a:endParaRPr lang="en-IN"/>
          </a:p>
        </p:txBody>
      </p:sp>
      <p:sp>
        <p:nvSpPr>
          <p:cNvPr id="6" name="Footer Placeholder 5">
            <a:extLst>
              <a:ext uri="{FF2B5EF4-FFF2-40B4-BE49-F238E27FC236}">
                <a16:creationId xmlns:a16="http://schemas.microsoft.com/office/drawing/2014/main" id="{FD8598EA-1726-CB66-44CF-C78BD16050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1E0F3F-C929-BFD5-5719-6743B22F7D9B}"/>
              </a:ext>
            </a:extLst>
          </p:cNvPr>
          <p:cNvSpPr>
            <a:spLocks noGrp="1"/>
          </p:cNvSpPr>
          <p:nvPr>
            <p:ph type="sldNum" sz="quarter" idx="12"/>
          </p:nvPr>
        </p:nvSpPr>
        <p:spPr/>
        <p:txBody>
          <a:bodyPr/>
          <a:lstStyle/>
          <a:p>
            <a:fld id="{9414B0E6-BA3E-4BC3-8155-47158E97F7EA}" type="slidenum">
              <a:rPr lang="en-IN" smtClean="0"/>
              <a:t>‹#›</a:t>
            </a:fld>
            <a:endParaRPr lang="en-IN"/>
          </a:p>
        </p:txBody>
      </p:sp>
    </p:spTree>
    <p:extLst>
      <p:ext uri="{BB962C8B-B14F-4D97-AF65-F5344CB8AC3E}">
        <p14:creationId xmlns:p14="http://schemas.microsoft.com/office/powerpoint/2010/main" val="1863702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E43EF-4BA8-2896-A52D-94C4329651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DAE75D-7209-E022-70DE-FF5685B08A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45B9C8-880C-D3A2-7147-DB208A9851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1D28578-57D5-ED17-C4CD-3ED4FD791B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B27FF6-B73A-E329-9021-2654DE6C66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A200FB-89BC-06AA-5BF4-48011CCBBA02}"/>
              </a:ext>
            </a:extLst>
          </p:cNvPr>
          <p:cNvSpPr>
            <a:spLocks noGrp="1"/>
          </p:cNvSpPr>
          <p:nvPr>
            <p:ph type="dt" sz="half" idx="10"/>
          </p:nvPr>
        </p:nvSpPr>
        <p:spPr/>
        <p:txBody>
          <a:bodyPr/>
          <a:lstStyle/>
          <a:p>
            <a:fld id="{43ADEBA8-DF25-45F8-BF53-B834508E5BCD}" type="datetimeFigureOut">
              <a:rPr lang="en-IN" smtClean="0"/>
              <a:t>21-02-2024</a:t>
            </a:fld>
            <a:endParaRPr lang="en-IN"/>
          </a:p>
        </p:txBody>
      </p:sp>
      <p:sp>
        <p:nvSpPr>
          <p:cNvPr id="8" name="Footer Placeholder 7">
            <a:extLst>
              <a:ext uri="{FF2B5EF4-FFF2-40B4-BE49-F238E27FC236}">
                <a16:creationId xmlns:a16="http://schemas.microsoft.com/office/drawing/2014/main" id="{09C79C95-A9E5-F42E-66B0-D5B6AC420D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1EFA9D-8B31-EB2B-1B73-99D0217DB879}"/>
              </a:ext>
            </a:extLst>
          </p:cNvPr>
          <p:cNvSpPr>
            <a:spLocks noGrp="1"/>
          </p:cNvSpPr>
          <p:nvPr>
            <p:ph type="sldNum" sz="quarter" idx="12"/>
          </p:nvPr>
        </p:nvSpPr>
        <p:spPr/>
        <p:txBody>
          <a:bodyPr/>
          <a:lstStyle/>
          <a:p>
            <a:fld id="{9414B0E6-BA3E-4BC3-8155-47158E97F7EA}" type="slidenum">
              <a:rPr lang="en-IN" smtClean="0"/>
              <a:t>‹#›</a:t>
            </a:fld>
            <a:endParaRPr lang="en-IN"/>
          </a:p>
        </p:txBody>
      </p:sp>
    </p:spTree>
    <p:extLst>
      <p:ext uri="{BB962C8B-B14F-4D97-AF65-F5344CB8AC3E}">
        <p14:creationId xmlns:p14="http://schemas.microsoft.com/office/powerpoint/2010/main" val="1236761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A86BD-48DF-1CC0-12BB-B9CAC10934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96E5F26-D322-697B-9269-5A6CB04B0D3B}"/>
              </a:ext>
            </a:extLst>
          </p:cNvPr>
          <p:cNvSpPr>
            <a:spLocks noGrp="1"/>
          </p:cNvSpPr>
          <p:nvPr>
            <p:ph type="dt" sz="half" idx="10"/>
          </p:nvPr>
        </p:nvSpPr>
        <p:spPr/>
        <p:txBody>
          <a:bodyPr/>
          <a:lstStyle/>
          <a:p>
            <a:fld id="{43ADEBA8-DF25-45F8-BF53-B834508E5BCD}" type="datetimeFigureOut">
              <a:rPr lang="en-IN" smtClean="0"/>
              <a:t>21-02-2024</a:t>
            </a:fld>
            <a:endParaRPr lang="en-IN"/>
          </a:p>
        </p:txBody>
      </p:sp>
      <p:sp>
        <p:nvSpPr>
          <p:cNvPr id="4" name="Footer Placeholder 3">
            <a:extLst>
              <a:ext uri="{FF2B5EF4-FFF2-40B4-BE49-F238E27FC236}">
                <a16:creationId xmlns:a16="http://schemas.microsoft.com/office/drawing/2014/main" id="{14CB64C7-BA95-7037-5D74-9BCC6299656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FEA56C3-4807-862E-D0C3-7005EA5795F9}"/>
              </a:ext>
            </a:extLst>
          </p:cNvPr>
          <p:cNvSpPr>
            <a:spLocks noGrp="1"/>
          </p:cNvSpPr>
          <p:nvPr>
            <p:ph type="sldNum" sz="quarter" idx="12"/>
          </p:nvPr>
        </p:nvSpPr>
        <p:spPr/>
        <p:txBody>
          <a:bodyPr/>
          <a:lstStyle/>
          <a:p>
            <a:fld id="{9414B0E6-BA3E-4BC3-8155-47158E97F7EA}" type="slidenum">
              <a:rPr lang="en-IN" smtClean="0"/>
              <a:t>‹#›</a:t>
            </a:fld>
            <a:endParaRPr lang="en-IN"/>
          </a:p>
        </p:txBody>
      </p:sp>
    </p:spTree>
    <p:extLst>
      <p:ext uri="{BB962C8B-B14F-4D97-AF65-F5344CB8AC3E}">
        <p14:creationId xmlns:p14="http://schemas.microsoft.com/office/powerpoint/2010/main" val="1899774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BFC9CF-005D-4695-9895-8C667D273C2E}"/>
              </a:ext>
            </a:extLst>
          </p:cNvPr>
          <p:cNvSpPr>
            <a:spLocks noGrp="1"/>
          </p:cNvSpPr>
          <p:nvPr>
            <p:ph type="dt" sz="half" idx="10"/>
          </p:nvPr>
        </p:nvSpPr>
        <p:spPr/>
        <p:txBody>
          <a:bodyPr/>
          <a:lstStyle/>
          <a:p>
            <a:fld id="{43ADEBA8-DF25-45F8-BF53-B834508E5BCD}" type="datetimeFigureOut">
              <a:rPr lang="en-IN" smtClean="0"/>
              <a:t>21-02-2024</a:t>
            </a:fld>
            <a:endParaRPr lang="en-IN"/>
          </a:p>
        </p:txBody>
      </p:sp>
      <p:sp>
        <p:nvSpPr>
          <p:cNvPr id="3" name="Footer Placeholder 2">
            <a:extLst>
              <a:ext uri="{FF2B5EF4-FFF2-40B4-BE49-F238E27FC236}">
                <a16:creationId xmlns:a16="http://schemas.microsoft.com/office/drawing/2014/main" id="{FE1E357C-E8F1-7010-69A8-779BD1E9267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BDB321-96A1-180B-C977-4E0D0E88CB19}"/>
              </a:ext>
            </a:extLst>
          </p:cNvPr>
          <p:cNvSpPr>
            <a:spLocks noGrp="1"/>
          </p:cNvSpPr>
          <p:nvPr>
            <p:ph type="sldNum" sz="quarter" idx="12"/>
          </p:nvPr>
        </p:nvSpPr>
        <p:spPr/>
        <p:txBody>
          <a:bodyPr/>
          <a:lstStyle/>
          <a:p>
            <a:fld id="{9414B0E6-BA3E-4BC3-8155-47158E97F7EA}" type="slidenum">
              <a:rPr lang="en-IN" smtClean="0"/>
              <a:t>‹#›</a:t>
            </a:fld>
            <a:endParaRPr lang="en-IN"/>
          </a:p>
        </p:txBody>
      </p:sp>
    </p:spTree>
    <p:extLst>
      <p:ext uri="{BB962C8B-B14F-4D97-AF65-F5344CB8AC3E}">
        <p14:creationId xmlns:p14="http://schemas.microsoft.com/office/powerpoint/2010/main" val="1076212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7E5B5-4CB0-CBD3-4AAE-24DE1FD651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A063E9B-727A-E29A-9215-694E51C16B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AF91375-A364-6306-3F26-D920086A80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F22658-E284-080E-17D2-FB8C83AD3CC4}"/>
              </a:ext>
            </a:extLst>
          </p:cNvPr>
          <p:cNvSpPr>
            <a:spLocks noGrp="1"/>
          </p:cNvSpPr>
          <p:nvPr>
            <p:ph type="dt" sz="half" idx="10"/>
          </p:nvPr>
        </p:nvSpPr>
        <p:spPr/>
        <p:txBody>
          <a:bodyPr/>
          <a:lstStyle/>
          <a:p>
            <a:fld id="{43ADEBA8-DF25-45F8-BF53-B834508E5BCD}" type="datetimeFigureOut">
              <a:rPr lang="en-IN" smtClean="0"/>
              <a:t>21-02-2024</a:t>
            </a:fld>
            <a:endParaRPr lang="en-IN"/>
          </a:p>
        </p:txBody>
      </p:sp>
      <p:sp>
        <p:nvSpPr>
          <p:cNvPr id="6" name="Footer Placeholder 5">
            <a:extLst>
              <a:ext uri="{FF2B5EF4-FFF2-40B4-BE49-F238E27FC236}">
                <a16:creationId xmlns:a16="http://schemas.microsoft.com/office/drawing/2014/main" id="{F199CAD6-3DC8-E6EB-18ED-9BF3ADBB63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EC0B3F-4C47-FD9C-8B93-7D54A4C27C95}"/>
              </a:ext>
            </a:extLst>
          </p:cNvPr>
          <p:cNvSpPr>
            <a:spLocks noGrp="1"/>
          </p:cNvSpPr>
          <p:nvPr>
            <p:ph type="sldNum" sz="quarter" idx="12"/>
          </p:nvPr>
        </p:nvSpPr>
        <p:spPr/>
        <p:txBody>
          <a:bodyPr/>
          <a:lstStyle/>
          <a:p>
            <a:fld id="{9414B0E6-BA3E-4BC3-8155-47158E97F7EA}" type="slidenum">
              <a:rPr lang="en-IN" smtClean="0"/>
              <a:t>‹#›</a:t>
            </a:fld>
            <a:endParaRPr lang="en-IN"/>
          </a:p>
        </p:txBody>
      </p:sp>
    </p:spTree>
    <p:extLst>
      <p:ext uri="{BB962C8B-B14F-4D97-AF65-F5344CB8AC3E}">
        <p14:creationId xmlns:p14="http://schemas.microsoft.com/office/powerpoint/2010/main" val="599043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D3E29-7D63-CF74-4986-0E0A1A3AC4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F649A4-F73E-A62D-037F-AADE46708D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98532E-A4C8-6055-FE9C-7F79EC890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C55CBE-ADBC-9F00-C458-749A140CC868}"/>
              </a:ext>
            </a:extLst>
          </p:cNvPr>
          <p:cNvSpPr>
            <a:spLocks noGrp="1"/>
          </p:cNvSpPr>
          <p:nvPr>
            <p:ph type="dt" sz="half" idx="10"/>
          </p:nvPr>
        </p:nvSpPr>
        <p:spPr/>
        <p:txBody>
          <a:bodyPr/>
          <a:lstStyle/>
          <a:p>
            <a:fld id="{43ADEBA8-DF25-45F8-BF53-B834508E5BCD}" type="datetimeFigureOut">
              <a:rPr lang="en-IN" smtClean="0"/>
              <a:t>21-02-2024</a:t>
            </a:fld>
            <a:endParaRPr lang="en-IN"/>
          </a:p>
        </p:txBody>
      </p:sp>
      <p:sp>
        <p:nvSpPr>
          <p:cNvPr id="6" name="Footer Placeholder 5">
            <a:extLst>
              <a:ext uri="{FF2B5EF4-FFF2-40B4-BE49-F238E27FC236}">
                <a16:creationId xmlns:a16="http://schemas.microsoft.com/office/drawing/2014/main" id="{410DCF68-CE96-DE7E-9990-343D277450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3BF1EF-F567-A918-EBF5-BD2DF3168F36}"/>
              </a:ext>
            </a:extLst>
          </p:cNvPr>
          <p:cNvSpPr>
            <a:spLocks noGrp="1"/>
          </p:cNvSpPr>
          <p:nvPr>
            <p:ph type="sldNum" sz="quarter" idx="12"/>
          </p:nvPr>
        </p:nvSpPr>
        <p:spPr/>
        <p:txBody>
          <a:bodyPr/>
          <a:lstStyle/>
          <a:p>
            <a:fld id="{9414B0E6-BA3E-4BC3-8155-47158E97F7EA}" type="slidenum">
              <a:rPr lang="en-IN" smtClean="0"/>
              <a:t>‹#›</a:t>
            </a:fld>
            <a:endParaRPr lang="en-IN"/>
          </a:p>
        </p:txBody>
      </p:sp>
    </p:spTree>
    <p:extLst>
      <p:ext uri="{BB962C8B-B14F-4D97-AF65-F5344CB8AC3E}">
        <p14:creationId xmlns:p14="http://schemas.microsoft.com/office/powerpoint/2010/main" val="2579473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598A4-D16B-ACD5-39E8-31D775F540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83E783-A417-578F-C234-1363ACB9B0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3F24AD-EF54-B564-5203-E1CF552DA738}"/>
              </a:ext>
            </a:extLst>
          </p:cNvPr>
          <p:cNvSpPr>
            <a:spLocks noGrp="1"/>
          </p:cNvSpPr>
          <p:nvPr>
            <p:ph type="dt" sz="half" idx="10"/>
          </p:nvPr>
        </p:nvSpPr>
        <p:spPr/>
        <p:txBody>
          <a:bodyPr/>
          <a:lstStyle/>
          <a:p>
            <a:fld id="{43ADEBA8-DF25-45F8-BF53-B834508E5BCD}" type="datetimeFigureOut">
              <a:rPr lang="en-IN" smtClean="0"/>
              <a:t>21-02-2024</a:t>
            </a:fld>
            <a:endParaRPr lang="en-IN"/>
          </a:p>
        </p:txBody>
      </p:sp>
      <p:sp>
        <p:nvSpPr>
          <p:cNvPr id="5" name="Footer Placeholder 4">
            <a:extLst>
              <a:ext uri="{FF2B5EF4-FFF2-40B4-BE49-F238E27FC236}">
                <a16:creationId xmlns:a16="http://schemas.microsoft.com/office/drawing/2014/main" id="{0A091ECE-9A34-E001-FF34-ABF207DAC2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1B1864-1A81-7A86-0330-3E3E17DB2CA5}"/>
              </a:ext>
            </a:extLst>
          </p:cNvPr>
          <p:cNvSpPr>
            <a:spLocks noGrp="1"/>
          </p:cNvSpPr>
          <p:nvPr>
            <p:ph type="sldNum" sz="quarter" idx="12"/>
          </p:nvPr>
        </p:nvSpPr>
        <p:spPr/>
        <p:txBody>
          <a:bodyPr/>
          <a:lstStyle/>
          <a:p>
            <a:fld id="{9414B0E6-BA3E-4BC3-8155-47158E97F7EA}" type="slidenum">
              <a:rPr lang="en-IN" smtClean="0"/>
              <a:t>‹#›</a:t>
            </a:fld>
            <a:endParaRPr lang="en-IN"/>
          </a:p>
        </p:txBody>
      </p:sp>
    </p:spTree>
    <p:extLst>
      <p:ext uri="{BB962C8B-B14F-4D97-AF65-F5344CB8AC3E}">
        <p14:creationId xmlns:p14="http://schemas.microsoft.com/office/powerpoint/2010/main" val="3767989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E2A191-9DDC-7F6E-B237-7B60EEEE0A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23CAAB-84EC-CFE3-A605-B5CC1B01F0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FBF649-63BB-24BC-FD49-4A27B722EE45}"/>
              </a:ext>
            </a:extLst>
          </p:cNvPr>
          <p:cNvSpPr>
            <a:spLocks noGrp="1"/>
          </p:cNvSpPr>
          <p:nvPr>
            <p:ph type="dt" sz="half" idx="10"/>
          </p:nvPr>
        </p:nvSpPr>
        <p:spPr/>
        <p:txBody>
          <a:bodyPr/>
          <a:lstStyle/>
          <a:p>
            <a:fld id="{43ADEBA8-DF25-45F8-BF53-B834508E5BCD}" type="datetimeFigureOut">
              <a:rPr lang="en-IN" smtClean="0"/>
              <a:t>21-02-2024</a:t>
            </a:fld>
            <a:endParaRPr lang="en-IN"/>
          </a:p>
        </p:txBody>
      </p:sp>
      <p:sp>
        <p:nvSpPr>
          <p:cNvPr id="5" name="Footer Placeholder 4">
            <a:extLst>
              <a:ext uri="{FF2B5EF4-FFF2-40B4-BE49-F238E27FC236}">
                <a16:creationId xmlns:a16="http://schemas.microsoft.com/office/drawing/2014/main" id="{B81932A1-EB9A-CE84-96B7-C59A9B2DD4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1690C2-529D-0E72-3329-FC0BE820CD21}"/>
              </a:ext>
            </a:extLst>
          </p:cNvPr>
          <p:cNvSpPr>
            <a:spLocks noGrp="1"/>
          </p:cNvSpPr>
          <p:nvPr>
            <p:ph type="sldNum" sz="quarter" idx="12"/>
          </p:nvPr>
        </p:nvSpPr>
        <p:spPr/>
        <p:txBody>
          <a:bodyPr/>
          <a:lstStyle/>
          <a:p>
            <a:fld id="{9414B0E6-BA3E-4BC3-8155-47158E97F7EA}" type="slidenum">
              <a:rPr lang="en-IN" smtClean="0"/>
              <a:t>‹#›</a:t>
            </a:fld>
            <a:endParaRPr lang="en-IN"/>
          </a:p>
        </p:txBody>
      </p:sp>
    </p:spTree>
    <p:extLst>
      <p:ext uri="{BB962C8B-B14F-4D97-AF65-F5344CB8AC3E}">
        <p14:creationId xmlns:p14="http://schemas.microsoft.com/office/powerpoint/2010/main" val="3937807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760EBC-E96F-4BC9-6D18-2CB141DCE7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75D00A-2FC0-F6AA-48DB-6CF486D4B3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19FBCB-3DAC-33E6-C093-8B28CE3C1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ADEBA8-DF25-45F8-BF53-B834508E5BCD}" type="datetimeFigureOut">
              <a:rPr lang="en-IN" smtClean="0"/>
              <a:t>21-02-2024</a:t>
            </a:fld>
            <a:endParaRPr lang="en-IN"/>
          </a:p>
        </p:txBody>
      </p:sp>
      <p:sp>
        <p:nvSpPr>
          <p:cNvPr id="5" name="Footer Placeholder 4">
            <a:extLst>
              <a:ext uri="{FF2B5EF4-FFF2-40B4-BE49-F238E27FC236}">
                <a16:creationId xmlns:a16="http://schemas.microsoft.com/office/drawing/2014/main" id="{57A1CF8E-1341-379F-09E5-919DEAC47F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EAF79BD-C72D-1D23-5476-27BC2F3F07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4B0E6-BA3E-4BC3-8155-47158E97F7EA}" type="slidenum">
              <a:rPr lang="en-IN" smtClean="0"/>
              <a:t>‹#›</a:t>
            </a:fld>
            <a:endParaRPr lang="en-IN"/>
          </a:p>
        </p:txBody>
      </p:sp>
    </p:spTree>
    <p:extLst>
      <p:ext uri="{BB962C8B-B14F-4D97-AF65-F5344CB8AC3E}">
        <p14:creationId xmlns:p14="http://schemas.microsoft.com/office/powerpoint/2010/main" val="190587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Balajithegr8/Smart-parking-system" TargetMode="Externa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5" name="Rectangle 1034">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1A6325-2CE0-9F42-AB3B-E6CA6897D40D}"/>
              </a:ext>
            </a:extLst>
          </p:cNvPr>
          <p:cNvSpPr>
            <a:spLocks noGrp="1"/>
          </p:cNvSpPr>
          <p:nvPr>
            <p:ph type="title"/>
          </p:nvPr>
        </p:nvSpPr>
        <p:spPr>
          <a:xfrm>
            <a:off x="838200" y="556995"/>
            <a:ext cx="10515600" cy="1133693"/>
          </a:xfrm>
        </p:spPr>
        <p:txBody>
          <a:bodyPr>
            <a:normAutofit/>
          </a:bodyPr>
          <a:lstStyle/>
          <a:p>
            <a:r>
              <a:rPr lang="en-GB" sz="5200" b="1" dirty="0">
                <a:latin typeface="Arial" panose="020B0604020202020204" pitchFamily="34" charset="0"/>
                <a:cs typeface="Arial" panose="020B0604020202020204" pitchFamily="34" charset="0"/>
              </a:rPr>
              <a:t>Team Details</a:t>
            </a:r>
            <a:endParaRPr lang="en-IN" sz="52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C15989A-79E2-6035-3DBA-9D1B94B1CB6A}"/>
              </a:ext>
            </a:extLst>
          </p:cNvPr>
          <p:cNvSpPr>
            <a:spLocks noGrp="1"/>
          </p:cNvSpPr>
          <p:nvPr>
            <p:ph idx="1"/>
          </p:nvPr>
        </p:nvSpPr>
        <p:spPr>
          <a:xfrm>
            <a:off x="920761" y="1526394"/>
            <a:ext cx="4386943" cy="649431"/>
          </a:xfrm>
        </p:spPr>
        <p:txBody>
          <a:bodyPr>
            <a:normAutofit/>
          </a:bodyPr>
          <a:lstStyle/>
          <a:p>
            <a:pPr marL="0" indent="0" defTabSz="740664">
              <a:spcBef>
                <a:spcPts val="810"/>
              </a:spcBef>
              <a:buNone/>
            </a:pPr>
            <a:r>
              <a:rPr lang="en-GB" sz="2000" b="1" kern="1200" dirty="0">
                <a:solidFill>
                  <a:srgbClr val="7030A0"/>
                </a:solidFill>
                <a:latin typeface="Arial" panose="020B0604020202020204" pitchFamily="34" charset="0"/>
                <a:ea typeface="+mn-ea"/>
                <a:cs typeface="Arial" panose="020B0604020202020204" pitchFamily="34" charset="0"/>
              </a:rPr>
              <a:t>TEAM NAME : CLICHÉ COOKIES</a:t>
            </a:r>
            <a:endParaRPr lang="en-IN" sz="2000" b="1" dirty="0">
              <a:solidFill>
                <a:srgbClr val="7030A0"/>
              </a:solidFill>
              <a:latin typeface="Arial" panose="020B0604020202020204" pitchFamily="34" charset="0"/>
              <a:cs typeface="Arial" panose="020B0604020202020204" pitchFamily="34" charset="0"/>
            </a:endParaRPr>
          </a:p>
        </p:txBody>
      </p:sp>
      <p:pic>
        <p:nvPicPr>
          <p:cNvPr id="1026" name="Picture 2" descr="Profile photo of Yashwardhan Khanna">
            <a:extLst>
              <a:ext uri="{FF2B5EF4-FFF2-40B4-BE49-F238E27FC236}">
                <a16:creationId xmlns:a16="http://schemas.microsoft.com/office/drawing/2014/main" id="{05F955FD-1CCC-5A22-1688-B47A2DE12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761" y="4104421"/>
            <a:ext cx="1648822" cy="164882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0D71959-D31C-E10A-0189-7ADFAC2CDE5D}"/>
              </a:ext>
            </a:extLst>
          </p:cNvPr>
          <p:cNvSpPr txBox="1"/>
          <p:nvPr/>
        </p:nvSpPr>
        <p:spPr>
          <a:xfrm>
            <a:off x="994594" y="2291587"/>
            <a:ext cx="5427297" cy="2012282"/>
          </a:xfrm>
          <a:prstGeom prst="rect">
            <a:avLst/>
          </a:prstGeom>
          <a:noFill/>
        </p:spPr>
        <p:txBody>
          <a:bodyPr wrap="square">
            <a:spAutoFit/>
          </a:bodyPr>
          <a:lstStyle/>
          <a:p>
            <a:pPr marL="1762677" marR="796214" defTabSz="740664">
              <a:lnSpc>
                <a:spcPts val="2568"/>
              </a:lnSpc>
              <a:spcAft>
                <a:spcPts val="600"/>
              </a:spcAft>
            </a:pPr>
            <a:r>
              <a:rPr lang="en-GB" sz="2673" b="1" kern="1200" spc="8">
                <a:solidFill>
                  <a:srgbClr val="A000FF"/>
                </a:solidFill>
                <a:latin typeface="Arial"/>
                <a:ea typeface="+mn-ea"/>
                <a:cs typeface="Arial"/>
              </a:rPr>
              <a:t>Balaji P</a:t>
            </a:r>
            <a:r>
              <a:rPr lang="en-GB" sz="2673" b="1" kern="1200" spc="-105">
                <a:solidFill>
                  <a:srgbClr val="A000FF"/>
                </a:solidFill>
                <a:latin typeface="Arial"/>
                <a:ea typeface="+mn-ea"/>
                <a:cs typeface="Arial"/>
              </a:rPr>
              <a:t> </a:t>
            </a:r>
          </a:p>
          <a:p>
            <a:pPr marL="1762677" marR="796214" defTabSz="740664">
              <a:lnSpc>
                <a:spcPts val="2568"/>
              </a:lnSpc>
              <a:spcAft>
                <a:spcPts val="600"/>
              </a:spcAft>
            </a:pPr>
            <a:r>
              <a:rPr lang="en-GB" sz="972" kern="1200">
                <a:solidFill>
                  <a:schemeClr val="tx1"/>
                </a:solidFill>
                <a:latin typeface="Arial MT"/>
                <a:ea typeface="+mn-ea"/>
                <a:cs typeface="+mn-cs"/>
              </a:rPr>
              <a:t>Co</a:t>
            </a:r>
            <a:r>
              <a:rPr lang="en-GB" sz="972" kern="1200" spc="16">
                <a:solidFill>
                  <a:schemeClr val="tx1"/>
                </a:solidFill>
                <a:latin typeface="Arial MT"/>
                <a:ea typeface="+mn-ea"/>
                <a:cs typeface="+mn-cs"/>
              </a:rPr>
              <a:t>ll</a:t>
            </a:r>
            <a:r>
              <a:rPr lang="en-GB" sz="972" kern="1200">
                <a:solidFill>
                  <a:schemeClr val="tx1"/>
                </a:solidFill>
                <a:latin typeface="Arial MT"/>
                <a:ea typeface="+mn-ea"/>
                <a:cs typeface="+mn-cs"/>
              </a:rPr>
              <a:t>eg</a:t>
            </a:r>
            <a:r>
              <a:rPr lang="en-GB" sz="972" kern="1200" spc="-16">
                <a:solidFill>
                  <a:schemeClr val="tx1"/>
                </a:solidFill>
                <a:latin typeface="Arial MT"/>
                <a:ea typeface="+mn-ea"/>
                <a:cs typeface="+mn-cs"/>
              </a:rPr>
              <a:t>e</a:t>
            </a:r>
            <a:r>
              <a:rPr lang="en-GB" sz="972" kern="1200">
                <a:solidFill>
                  <a:schemeClr val="tx1"/>
                </a:solidFill>
                <a:latin typeface="Arial MT"/>
                <a:ea typeface="+mn-ea"/>
                <a:cs typeface="+mn-cs"/>
              </a:rPr>
              <a:t>:  SRM IST KTR</a:t>
            </a:r>
          </a:p>
          <a:p>
            <a:pPr marL="1762677" marR="796214" defTabSz="740664">
              <a:lnSpc>
                <a:spcPts val="2568"/>
              </a:lnSpc>
              <a:spcAft>
                <a:spcPts val="600"/>
              </a:spcAft>
            </a:pPr>
            <a:r>
              <a:rPr lang="en-GB" sz="972" kern="1200" spc="-8">
                <a:solidFill>
                  <a:schemeClr val="tx1"/>
                </a:solidFill>
                <a:latin typeface="Arial MT"/>
                <a:ea typeface="+mn-ea"/>
                <a:cs typeface="+mn-cs"/>
              </a:rPr>
              <a:t>Stream: CSE with AIML</a:t>
            </a:r>
            <a:endParaRPr lang="en-GB" sz="972" kern="1200">
              <a:solidFill>
                <a:schemeClr val="tx1"/>
              </a:solidFill>
              <a:latin typeface="Arial MT"/>
              <a:ea typeface="+mn-ea"/>
              <a:cs typeface="+mn-cs"/>
            </a:endParaRPr>
          </a:p>
          <a:p>
            <a:pPr marL="1762677" marR="796214" defTabSz="740664">
              <a:lnSpc>
                <a:spcPts val="2568"/>
              </a:lnSpc>
              <a:spcAft>
                <a:spcPts val="600"/>
              </a:spcAft>
            </a:pPr>
            <a:r>
              <a:rPr lang="en-GB" sz="972" kern="1200" spc="-28">
                <a:solidFill>
                  <a:schemeClr val="tx1"/>
                </a:solidFill>
                <a:latin typeface="Arial MT"/>
                <a:ea typeface="+mn-ea"/>
                <a:cs typeface="+mn-cs"/>
              </a:rPr>
              <a:t>Year</a:t>
            </a:r>
            <a:r>
              <a:rPr lang="en-GB" sz="972" kern="1200" spc="-20">
                <a:solidFill>
                  <a:schemeClr val="tx1"/>
                </a:solidFill>
                <a:latin typeface="Arial MT"/>
                <a:ea typeface="+mn-ea"/>
                <a:cs typeface="+mn-cs"/>
              </a:rPr>
              <a:t> </a:t>
            </a:r>
            <a:r>
              <a:rPr lang="en-GB" sz="972" kern="1200">
                <a:solidFill>
                  <a:schemeClr val="tx1"/>
                </a:solidFill>
                <a:latin typeface="Arial MT"/>
                <a:ea typeface="+mn-ea"/>
                <a:cs typeface="+mn-cs"/>
              </a:rPr>
              <a:t>of</a:t>
            </a:r>
            <a:r>
              <a:rPr lang="en-GB" sz="972" kern="1200" spc="-36">
                <a:solidFill>
                  <a:schemeClr val="tx1"/>
                </a:solidFill>
                <a:latin typeface="Arial MT"/>
                <a:ea typeface="+mn-ea"/>
                <a:cs typeface="+mn-cs"/>
              </a:rPr>
              <a:t> </a:t>
            </a:r>
            <a:r>
              <a:rPr lang="en-GB" sz="972" kern="1200">
                <a:solidFill>
                  <a:schemeClr val="tx1"/>
                </a:solidFill>
                <a:latin typeface="Arial MT"/>
                <a:ea typeface="+mn-ea"/>
                <a:cs typeface="+mn-cs"/>
              </a:rPr>
              <a:t>graduation: 2025</a:t>
            </a:r>
          </a:p>
          <a:p>
            <a:pPr marL="1762677" marR="796214" defTabSz="740664">
              <a:lnSpc>
                <a:spcPts val="2568"/>
              </a:lnSpc>
              <a:spcAft>
                <a:spcPts val="600"/>
              </a:spcAft>
            </a:pPr>
            <a:r>
              <a:rPr lang="en-IN" sz="972" kern="1200">
                <a:solidFill>
                  <a:schemeClr val="tx1"/>
                </a:solidFill>
                <a:latin typeface="Arial MT"/>
                <a:ea typeface="+mn-ea"/>
                <a:cs typeface="+mn-cs"/>
              </a:rPr>
              <a:t> </a:t>
            </a:r>
            <a:endParaRPr lang="en-IN" sz="1200" spc="0">
              <a:latin typeface="Arial MT"/>
              <a:cs typeface="Arial MT"/>
            </a:endParaRPr>
          </a:p>
        </p:txBody>
      </p:sp>
      <p:sp>
        <p:nvSpPr>
          <p:cNvPr id="15" name="TextBox 14">
            <a:extLst>
              <a:ext uri="{FF2B5EF4-FFF2-40B4-BE49-F238E27FC236}">
                <a16:creationId xmlns:a16="http://schemas.microsoft.com/office/drawing/2014/main" id="{0749BFF4-7C60-42AE-55F9-46D82AB83B5A}"/>
              </a:ext>
            </a:extLst>
          </p:cNvPr>
          <p:cNvSpPr txBox="1"/>
          <p:nvPr/>
        </p:nvSpPr>
        <p:spPr>
          <a:xfrm>
            <a:off x="994593" y="4104421"/>
            <a:ext cx="5427297" cy="2345707"/>
          </a:xfrm>
          <a:prstGeom prst="rect">
            <a:avLst/>
          </a:prstGeom>
          <a:noFill/>
        </p:spPr>
        <p:txBody>
          <a:bodyPr wrap="square">
            <a:spAutoFit/>
          </a:bodyPr>
          <a:lstStyle/>
          <a:p>
            <a:pPr marL="1762677" marR="796214" defTabSz="740664">
              <a:lnSpc>
                <a:spcPts val="2568"/>
              </a:lnSpc>
              <a:spcAft>
                <a:spcPts val="600"/>
              </a:spcAft>
            </a:pPr>
            <a:r>
              <a:rPr lang="en-GB" sz="2673" b="1" kern="1200" spc="8">
                <a:solidFill>
                  <a:srgbClr val="A000FF"/>
                </a:solidFill>
                <a:latin typeface="Arial"/>
                <a:ea typeface="+mn-ea"/>
                <a:cs typeface="Arial"/>
              </a:rPr>
              <a:t>Yashwardhan Khanna</a:t>
            </a:r>
            <a:endParaRPr lang="en-GB" sz="2673" b="1" kern="1200" spc="-105">
              <a:solidFill>
                <a:srgbClr val="A000FF"/>
              </a:solidFill>
              <a:latin typeface="Arial"/>
              <a:ea typeface="+mn-ea"/>
              <a:cs typeface="Arial"/>
            </a:endParaRPr>
          </a:p>
          <a:p>
            <a:pPr marL="1762677" marR="796214" defTabSz="740664">
              <a:lnSpc>
                <a:spcPts val="2568"/>
              </a:lnSpc>
              <a:spcAft>
                <a:spcPts val="600"/>
              </a:spcAft>
            </a:pPr>
            <a:r>
              <a:rPr lang="en-GB" sz="972" kern="1200">
                <a:solidFill>
                  <a:schemeClr val="tx1"/>
                </a:solidFill>
                <a:latin typeface="Arial MT"/>
                <a:ea typeface="+mn-ea"/>
                <a:cs typeface="+mn-cs"/>
              </a:rPr>
              <a:t>Co</a:t>
            </a:r>
            <a:r>
              <a:rPr lang="en-GB" sz="972" kern="1200" spc="16">
                <a:solidFill>
                  <a:schemeClr val="tx1"/>
                </a:solidFill>
                <a:latin typeface="Arial MT"/>
                <a:ea typeface="+mn-ea"/>
                <a:cs typeface="+mn-cs"/>
              </a:rPr>
              <a:t>ll</a:t>
            </a:r>
            <a:r>
              <a:rPr lang="en-GB" sz="972" kern="1200">
                <a:solidFill>
                  <a:schemeClr val="tx1"/>
                </a:solidFill>
                <a:latin typeface="Arial MT"/>
                <a:ea typeface="+mn-ea"/>
                <a:cs typeface="+mn-cs"/>
              </a:rPr>
              <a:t>eg</a:t>
            </a:r>
            <a:r>
              <a:rPr lang="en-GB" sz="972" kern="1200" spc="-16">
                <a:solidFill>
                  <a:schemeClr val="tx1"/>
                </a:solidFill>
                <a:latin typeface="Arial MT"/>
                <a:ea typeface="+mn-ea"/>
                <a:cs typeface="+mn-cs"/>
              </a:rPr>
              <a:t>e</a:t>
            </a:r>
            <a:r>
              <a:rPr lang="en-GB" sz="972" kern="1200">
                <a:solidFill>
                  <a:schemeClr val="tx1"/>
                </a:solidFill>
                <a:latin typeface="Arial MT"/>
                <a:ea typeface="+mn-ea"/>
                <a:cs typeface="+mn-cs"/>
              </a:rPr>
              <a:t>:  SRM IST KTR</a:t>
            </a:r>
          </a:p>
          <a:p>
            <a:pPr marL="1762677" marR="796214" defTabSz="740664">
              <a:lnSpc>
                <a:spcPts val="2568"/>
              </a:lnSpc>
              <a:spcAft>
                <a:spcPts val="600"/>
              </a:spcAft>
            </a:pPr>
            <a:r>
              <a:rPr lang="en-GB" sz="972" kern="1200" spc="-8">
                <a:solidFill>
                  <a:schemeClr val="tx1"/>
                </a:solidFill>
                <a:latin typeface="Arial MT"/>
                <a:ea typeface="+mn-ea"/>
                <a:cs typeface="+mn-cs"/>
              </a:rPr>
              <a:t>Stream: CSE with AIML</a:t>
            </a:r>
            <a:endParaRPr lang="en-GB" sz="972" kern="1200">
              <a:solidFill>
                <a:schemeClr val="tx1"/>
              </a:solidFill>
              <a:latin typeface="Arial MT"/>
              <a:ea typeface="+mn-ea"/>
              <a:cs typeface="+mn-cs"/>
            </a:endParaRPr>
          </a:p>
          <a:p>
            <a:pPr marL="1762677" marR="796214" defTabSz="740664">
              <a:lnSpc>
                <a:spcPts val="2568"/>
              </a:lnSpc>
              <a:spcAft>
                <a:spcPts val="600"/>
              </a:spcAft>
            </a:pPr>
            <a:r>
              <a:rPr lang="en-GB" sz="972" kern="1200" spc="-28">
                <a:solidFill>
                  <a:schemeClr val="tx1"/>
                </a:solidFill>
                <a:latin typeface="Arial MT"/>
                <a:ea typeface="+mn-ea"/>
                <a:cs typeface="+mn-cs"/>
              </a:rPr>
              <a:t>Year</a:t>
            </a:r>
            <a:r>
              <a:rPr lang="en-GB" sz="972" kern="1200" spc="-20">
                <a:solidFill>
                  <a:schemeClr val="tx1"/>
                </a:solidFill>
                <a:latin typeface="Arial MT"/>
                <a:ea typeface="+mn-ea"/>
                <a:cs typeface="+mn-cs"/>
              </a:rPr>
              <a:t> </a:t>
            </a:r>
            <a:r>
              <a:rPr lang="en-GB" sz="972" kern="1200">
                <a:solidFill>
                  <a:schemeClr val="tx1"/>
                </a:solidFill>
                <a:latin typeface="Arial MT"/>
                <a:ea typeface="+mn-ea"/>
                <a:cs typeface="+mn-cs"/>
              </a:rPr>
              <a:t>of</a:t>
            </a:r>
            <a:r>
              <a:rPr lang="en-GB" sz="972" kern="1200" spc="-36">
                <a:solidFill>
                  <a:schemeClr val="tx1"/>
                </a:solidFill>
                <a:latin typeface="Arial MT"/>
                <a:ea typeface="+mn-ea"/>
                <a:cs typeface="+mn-cs"/>
              </a:rPr>
              <a:t> </a:t>
            </a:r>
            <a:r>
              <a:rPr lang="en-GB" sz="972" kern="1200">
                <a:solidFill>
                  <a:schemeClr val="tx1"/>
                </a:solidFill>
                <a:latin typeface="Arial MT"/>
                <a:ea typeface="+mn-ea"/>
                <a:cs typeface="+mn-cs"/>
              </a:rPr>
              <a:t>graduation: 2025</a:t>
            </a:r>
          </a:p>
          <a:p>
            <a:pPr marL="1762677" marR="796214" defTabSz="740664">
              <a:lnSpc>
                <a:spcPts val="2568"/>
              </a:lnSpc>
              <a:spcAft>
                <a:spcPts val="600"/>
              </a:spcAft>
            </a:pPr>
            <a:r>
              <a:rPr lang="en-IN" sz="972" kern="1200">
                <a:solidFill>
                  <a:schemeClr val="tx1"/>
                </a:solidFill>
                <a:latin typeface="Arial MT"/>
                <a:ea typeface="+mn-ea"/>
                <a:cs typeface="+mn-cs"/>
              </a:rPr>
              <a:t> </a:t>
            </a:r>
            <a:endParaRPr lang="en-IN" sz="1200" spc="0">
              <a:latin typeface="Arial MT"/>
              <a:cs typeface="Arial MT"/>
            </a:endParaRPr>
          </a:p>
        </p:txBody>
      </p:sp>
      <p:sp>
        <p:nvSpPr>
          <p:cNvPr id="16" name="TextBox 15">
            <a:extLst>
              <a:ext uri="{FF2B5EF4-FFF2-40B4-BE49-F238E27FC236}">
                <a16:creationId xmlns:a16="http://schemas.microsoft.com/office/drawing/2014/main" id="{062C953C-7BC4-80DE-A389-78B528B912B1}"/>
              </a:ext>
            </a:extLst>
          </p:cNvPr>
          <p:cNvSpPr txBox="1"/>
          <p:nvPr/>
        </p:nvSpPr>
        <p:spPr>
          <a:xfrm>
            <a:off x="5926503" y="2291587"/>
            <a:ext cx="5427297" cy="2345707"/>
          </a:xfrm>
          <a:prstGeom prst="rect">
            <a:avLst/>
          </a:prstGeom>
          <a:noFill/>
        </p:spPr>
        <p:txBody>
          <a:bodyPr wrap="square">
            <a:spAutoFit/>
          </a:bodyPr>
          <a:lstStyle/>
          <a:p>
            <a:pPr marL="1762677" marR="796214" defTabSz="740664">
              <a:lnSpc>
                <a:spcPts val="2568"/>
              </a:lnSpc>
              <a:spcAft>
                <a:spcPts val="600"/>
              </a:spcAft>
            </a:pPr>
            <a:r>
              <a:rPr lang="en-GB" sz="2673" b="1" kern="1200" spc="8" dirty="0">
                <a:solidFill>
                  <a:srgbClr val="A000FF"/>
                </a:solidFill>
                <a:latin typeface="Arial"/>
                <a:ea typeface="+mn-ea"/>
                <a:cs typeface="Arial"/>
              </a:rPr>
              <a:t>Dhruv Choudhary</a:t>
            </a:r>
            <a:endParaRPr lang="en-GB" sz="2673" b="1" kern="1200" spc="-105" dirty="0">
              <a:solidFill>
                <a:srgbClr val="A000FF"/>
              </a:solidFill>
              <a:latin typeface="Arial"/>
              <a:ea typeface="+mn-ea"/>
              <a:cs typeface="Arial"/>
            </a:endParaRPr>
          </a:p>
          <a:p>
            <a:pPr marL="1762677" marR="796214" defTabSz="740664">
              <a:lnSpc>
                <a:spcPts val="2568"/>
              </a:lnSpc>
              <a:spcAft>
                <a:spcPts val="600"/>
              </a:spcAft>
            </a:pPr>
            <a:r>
              <a:rPr lang="en-GB" sz="972" kern="1200" dirty="0">
                <a:solidFill>
                  <a:schemeClr val="tx1"/>
                </a:solidFill>
                <a:latin typeface="Arial MT"/>
                <a:ea typeface="+mn-ea"/>
                <a:cs typeface="+mn-cs"/>
              </a:rPr>
              <a:t>Co</a:t>
            </a:r>
            <a:r>
              <a:rPr lang="en-GB" sz="972" kern="1200" spc="16" dirty="0">
                <a:solidFill>
                  <a:schemeClr val="tx1"/>
                </a:solidFill>
                <a:latin typeface="Arial MT"/>
                <a:ea typeface="+mn-ea"/>
                <a:cs typeface="+mn-cs"/>
              </a:rPr>
              <a:t>ll</a:t>
            </a:r>
            <a:r>
              <a:rPr lang="en-GB" sz="972" kern="1200" dirty="0">
                <a:solidFill>
                  <a:schemeClr val="tx1"/>
                </a:solidFill>
                <a:latin typeface="Arial MT"/>
                <a:ea typeface="+mn-ea"/>
                <a:cs typeface="+mn-cs"/>
              </a:rPr>
              <a:t>eg</a:t>
            </a:r>
            <a:r>
              <a:rPr lang="en-GB" sz="972" kern="1200" spc="-16" dirty="0">
                <a:solidFill>
                  <a:schemeClr val="tx1"/>
                </a:solidFill>
                <a:latin typeface="Arial MT"/>
                <a:ea typeface="+mn-ea"/>
                <a:cs typeface="+mn-cs"/>
              </a:rPr>
              <a:t>e</a:t>
            </a:r>
            <a:r>
              <a:rPr lang="en-GB" sz="972" kern="1200" dirty="0">
                <a:solidFill>
                  <a:schemeClr val="tx1"/>
                </a:solidFill>
                <a:latin typeface="Arial MT"/>
                <a:ea typeface="+mn-ea"/>
                <a:cs typeface="+mn-cs"/>
              </a:rPr>
              <a:t>:  SRM IST KTR</a:t>
            </a:r>
          </a:p>
          <a:p>
            <a:pPr marL="1762677" marR="796214" defTabSz="740664">
              <a:lnSpc>
                <a:spcPts val="2568"/>
              </a:lnSpc>
              <a:spcAft>
                <a:spcPts val="600"/>
              </a:spcAft>
            </a:pPr>
            <a:r>
              <a:rPr lang="en-GB" sz="972" kern="1200" spc="-8" dirty="0">
                <a:solidFill>
                  <a:schemeClr val="tx1"/>
                </a:solidFill>
                <a:latin typeface="Arial MT"/>
                <a:ea typeface="+mn-ea"/>
                <a:cs typeface="+mn-cs"/>
              </a:rPr>
              <a:t>Stream: CSE with AIML</a:t>
            </a:r>
            <a:endParaRPr lang="en-GB" sz="972" kern="1200" dirty="0">
              <a:solidFill>
                <a:schemeClr val="tx1"/>
              </a:solidFill>
              <a:latin typeface="Arial MT"/>
              <a:ea typeface="+mn-ea"/>
              <a:cs typeface="+mn-cs"/>
            </a:endParaRPr>
          </a:p>
          <a:p>
            <a:pPr marL="1762677" marR="796214" defTabSz="740664">
              <a:lnSpc>
                <a:spcPts val="2568"/>
              </a:lnSpc>
              <a:spcAft>
                <a:spcPts val="600"/>
              </a:spcAft>
            </a:pPr>
            <a:r>
              <a:rPr lang="en-GB" sz="972" kern="1200" spc="-28" dirty="0">
                <a:solidFill>
                  <a:schemeClr val="tx1"/>
                </a:solidFill>
                <a:latin typeface="Arial MT"/>
                <a:ea typeface="+mn-ea"/>
                <a:cs typeface="+mn-cs"/>
              </a:rPr>
              <a:t>Year</a:t>
            </a:r>
            <a:r>
              <a:rPr lang="en-GB" sz="972" kern="1200" spc="-20" dirty="0">
                <a:solidFill>
                  <a:schemeClr val="tx1"/>
                </a:solidFill>
                <a:latin typeface="Arial MT"/>
                <a:ea typeface="+mn-ea"/>
                <a:cs typeface="+mn-cs"/>
              </a:rPr>
              <a:t> </a:t>
            </a:r>
            <a:r>
              <a:rPr lang="en-GB" sz="972" kern="1200" dirty="0">
                <a:solidFill>
                  <a:schemeClr val="tx1"/>
                </a:solidFill>
                <a:latin typeface="Arial MT"/>
                <a:ea typeface="+mn-ea"/>
                <a:cs typeface="+mn-cs"/>
              </a:rPr>
              <a:t>of</a:t>
            </a:r>
            <a:r>
              <a:rPr lang="en-GB" sz="972" kern="1200" spc="-36" dirty="0">
                <a:solidFill>
                  <a:schemeClr val="tx1"/>
                </a:solidFill>
                <a:latin typeface="Arial MT"/>
                <a:ea typeface="+mn-ea"/>
                <a:cs typeface="+mn-cs"/>
              </a:rPr>
              <a:t> </a:t>
            </a:r>
            <a:r>
              <a:rPr lang="en-GB" sz="972" kern="1200" dirty="0">
                <a:solidFill>
                  <a:schemeClr val="tx1"/>
                </a:solidFill>
                <a:latin typeface="Arial MT"/>
                <a:ea typeface="+mn-ea"/>
                <a:cs typeface="+mn-cs"/>
              </a:rPr>
              <a:t>graduation: 2025</a:t>
            </a:r>
          </a:p>
          <a:p>
            <a:pPr marL="1762677" marR="796214" defTabSz="740664">
              <a:lnSpc>
                <a:spcPts val="2568"/>
              </a:lnSpc>
              <a:spcAft>
                <a:spcPts val="600"/>
              </a:spcAft>
            </a:pPr>
            <a:r>
              <a:rPr lang="en-IN" sz="972" kern="1200" dirty="0">
                <a:solidFill>
                  <a:schemeClr val="tx1"/>
                </a:solidFill>
                <a:latin typeface="Arial MT"/>
                <a:ea typeface="+mn-ea"/>
                <a:cs typeface="+mn-cs"/>
              </a:rPr>
              <a:t> </a:t>
            </a:r>
            <a:endParaRPr lang="en-IN" sz="1200" spc="0" dirty="0">
              <a:latin typeface="Arial MT"/>
              <a:cs typeface="Arial MT"/>
            </a:endParaRPr>
          </a:p>
        </p:txBody>
      </p:sp>
      <p:pic>
        <p:nvPicPr>
          <p:cNvPr id="18" name="Picture 17">
            <a:extLst>
              <a:ext uri="{FF2B5EF4-FFF2-40B4-BE49-F238E27FC236}">
                <a16:creationId xmlns:a16="http://schemas.microsoft.com/office/drawing/2014/main" id="{863DA451-AE5B-7C63-76E5-42139FBDDFCC}"/>
              </a:ext>
            </a:extLst>
          </p:cNvPr>
          <p:cNvPicPr>
            <a:picLocks noChangeAspect="1"/>
          </p:cNvPicPr>
          <p:nvPr/>
        </p:nvPicPr>
        <p:blipFill>
          <a:blip r:embed="rId3"/>
          <a:stretch>
            <a:fillRect/>
          </a:stretch>
        </p:blipFill>
        <p:spPr>
          <a:xfrm>
            <a:off x="5697520" y="2184535"/>
            <a:ext cx="1751558" cy="1803328"/>
          </a:xfrm>
          <a:prstGeom prst="rect">
            <a:avLst/>
          </a:prstGeom>
        </p:spPr>
      </p:pic>
      <p:pic>
        <p:nvPicPr>
          <p:cNvPr id="1030" name="Picture 6" descr="Profile photo of Balaji Prakasam">
            <a:extLst>
              <a:ext uri="{FF2B5EF4-FFF2-40B4-BE49-F238E27FC236}">
                <a16:creationId xmlns:a16="http://schemas.microsoft.com/office/drawing/2014/main" id="{09FBB4E9-5B70-8E53-170A-3F5D71B091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761" y="2184535"/>
            <a:ext cx="1648823" cy="1648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2722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ED76F6-0B15-F308-39A2-54EBF748F164}"/>
              </a:ext>
            </a:extLst>
          </p:cNvPr>
          <p:cNvSpPr>
            <a:spLocks noGrp="1"/>
          </p:cNvSpPr>
          <p:nvPr>
            <p:ph type="title"/>
          </p:nvPr>
        </p:nvSpPr>
        <p:spPr>
          <a:xfrm>
            <a:off x="1479550" y="371071"/>
            <a:ext cx="9872726" cy="1325563"/>
          </a:xfrm>
        </p:spPr>
        <p:txBody>
          <a:bodyPr>
            <a:normAutofit/>
          </a:bodyPr>
          <a:lstStyle/>
          <a:p>
            <a:r>
              <a:rPr lang="en-GB" sz="3400" b="1" i="0" dirty="0">
                <a:effectLst/>
                <a:latin typeface="Arial" panose="020B0604020202020204" pitchFamily="34" charset="0"/>
                <a:cs typeface="Arial" panose="020B0604020202020204" pitchFamily="34" charset="0"/>
              </a:rPr>
              <a:t>Problem Statement: Reinventing Parking Management with a Smart Parking System</a:t>
            </a:r>
            <a:endParaRPr lang="en-IN" sz="3400" b="1" dirty="0">
              <a:latin typeface="Arial" panose="020B0604020202020204" pitchFamily="34" charset="0"/>
              <a:cs typeface="Arial" panose="020B0604020202020204" pitchFamily="34" charset="0"/>
            </a:endParaRPr>
          </a:p>
        </p:txBody>
      </p:sp>
      <p:sp>
        <p:nvSpPr>
          <p:cNvPr id="2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89996331-85E7-1F56-C02C-396BC51C13A1}"/>
              </a:ext>
            </a:extLst>
          </p:cNvPr>
          <p:cNvSpPr>
            <a:spLocks noGrp="1" noChangeArrowheads="1"/>
          </p:cNvSpPr>
          <p:nvPr>
            <p:ph idx="1"/>
          </p:nvPr>
        </p:nvSpPr>
        <p:spPr bwMode="auto">
          <a:xfrm>
            <a:off x="836676" y="1647019"/>
            <a:ext cx="10515600" cy="42519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198375" rIns="0" bIns="0" numCol="1"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3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Issue:</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Parking congestion within organizations leads to employee frustration and time wastage due to inefficient parking space utilization.</a:t>
            </a: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Objective:</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Develop and implement a Smart Parking System using technology to transform parking experiences and mitigate congestion issues.</a:t>
            </a: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Key Focus Areas:</a:t>
            </a:r>
            <a:endParaRPr kumimoji="0" lang="en-US" altLang="en-US" sz="1300" b="0" i="0" u="none" strike="noStrike" cap="none" normalizeH="0" baseline="0" dirty="0">
              <a:ln>
                <a:noFill/>
              </a:ln>
              <a:effectLst/>
              <a:latin typeface="Arial" panose="020B0604020202020204" pitchFamily="34" charset="0"/>
              <a:cs typeface="Arial" panose="020B0604020202020204" pitchFamily="34" charset="0"/>
            </a:endParaRPr>
          </a:p>
          <a:p>
            <a:pPr marL="457200" marR="0" lvl="1" indent="0" defTabSz="914400" rtl="0" eaLnBrk="0" fontAlgn="base" latinLnBrk="0" hangingPunct="0">
              <a:spcBef>
                <a:spcPct val="0"/>
              </a:spcBef>
              <a:spcAft>
                <a:spcPts val="600"/>
              </a:spcAft>
              <a:buClrTx/>
              <a:buSzTx/>
              <a:buFontTx/>
              <a:buAutoNum type="arabicPeriod"/>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Prebooking Convenience:</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Create a user-friendly mobile application enabling students and faculty to reserve parking slots in advance, ensuring availability and convenience.</a:t>
            </a:r>
          </a:p>
          <a:p>
            <a:pPr marL="457200" marR="0" lvl="1" indent="0" defTabSz="914400" rtl="0" eaLnBrk="0" fontAlgn="base" latinLnBrk="0" hangingPunct="0">
              <a:spcBef>
                <a:spcPct val="0"/>
              </a:spcBef>
              <a:spcAft>
                <a:spcPts val="600"/>
              </a:spcAft>
              <a:buClrTx/>
              <a:buSzTx/>
              <a:buFontTx/>
              <a:buAutoNum type="arabicPeriod" startAt="2"/>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Live-Time Monitoring:</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Implement a network of cameras at parking facility entrances and exits to monitor occupancy status in real-time, providing accurate data to users.</a:t>
            </a:r>
          </a:p>
          <a:p>
            <a:pPr marL="457200" marR="0" lvl="1" indent="0" defTabSz="914400" rtl="0" eaLnBrk="0" fontAlgn="base" latinLnBrk="0" hangingPunct="0">
              <a:spcBef>
                <a:spcPct val="0"/>
              </a:spcBef>
              <a:spcAft>
                <a:spcPts val="600"/>
              </a:spcAft>
              <a:buClrTx/>
              <a:buSzTx/>
              <a:buFontTx/>
              <a:buAutoNum type="arabicPeriod" startAt="3"/>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QR Code Integration:</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Integrate QR code scanning technology at the entrance for streamlined user identification and seamless parking slot booking.</a:t>
            </a:r>
          </a:p>
          <a:p>
            <a:pPr marL="457200" marR="0" lvl="1" indent="0" defTabSz="914400" rtl="0" eaLnBrk="0" fontAlgn="base" latinLnBrk="0" hangingPunct="0">
              <a:spcBef>
                <a:spcPct val="0"/>
              </a:spcBef>
              <a:spcAft>
                <a:spcPts val="600"/>
              </a:spcAft>
              <a:buClrTx/>
              <a:buSzTx/>
              <a:buFontTx/>
              <a:buAutoNum type="arabicPeriod" startAt="4"/>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Real-Time Notifications:</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Enable automated messaging to notify users about their assigned parking slots, locations, and any changes in availability or status.</a:t>
            </a:r>
          </a:p>
          <a:p>
            <a:pPr marL="457200" marR="0" lvl="1" indent="0" defTabSz="914400" rtl="0" eaLnBrk="0" fontAlgn="base" latinLnBrk="0" hangingPunct="0">
              <a:spcBef>
                <a:spcPct val="0"/>
              </a:spcBef>
              <a:spcAft>
                <a:spcPts val="600"/>
              </a:spcAft>
              <a:buClrTx/>
              <a:buSzTx/>
              <a:buFontTx/>
              <a:buAutoNum type="arabicPeriod" startAt="5"/>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Comprehensive App:</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Develop a feature-rich mobile application that displays parking locations, availability, and relevant information to enhance the overall parking experience.</a:t>
            </a: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Impact:</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By leveraging technology-driven solutions, the proposed Smart Parking System aims to optimize parking resource utilization, elevate convenience for users, and improve overall campus mobility.</a:t>
            </a: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Innovation:</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This project seeks to revolutionize parking management through innovative technologies, offering a comprehensive solution to the persistent challenge of parking congestion within organizations.</a:t>
            </a:r>
          </a:p>
          <a:p>
            <a:pPr marL="0" marR="0" lvl="0" indent="0" defTabSz="914400" rtl="0" eaLnBrk="0" fontAlgn="base" latinLnBrk="0" hangingPunct="0">
              <a:spcBef>
                <a:spcPct val="0"/>
              </a:spcBef>
              <a:spcAft>
                <a:spcPts val="600"/>
              </a:spcAft>
              <a:buClrTx/>
              <a:buSzTx/>
              <a:buFontTx/>
              <a:buNone/>
              <a:tabLst/>
            </a:pPr>
            <a:b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br>
            <a:endParaRPr kumimoji="0" lang="en-US" altLang="en-US" sz="1300" b="0" i="0" u="none" strike="noStrike" cap="none" normalizeH="0" baseline="0" dirty="0">
              <a:ln>
                <a:noFill/>
              </a:ln>
              <a:effectLst/>
              <a:latin typeface="Arial" panose="020B0604020202020204" pitchFamily="34" charset="0"/>
              <a:cs typeface="Arial" panose="020B0604020202020204" pitchFamily="34" charset="0"/>
            </a:endParaRPr>
          </a:p>
        </p:txBody>
      </p:sp>
      <p:pic>
        <p:nvPicPr>
          <p:cNvPr id="16" name="Graphic 15" descr="Traffic Light">
            <a:extLst>
              <a:ext uri="{FF2B5EF4-FFF2-40B4-BE49-F238E27FC236}">
                <a16:creationId xmlns:a16="http://schemas.microsoft.com/office/drawing/2014/main" id="{5F485A16-0685-12FC-94D8-B586494424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0250" y="619218"/>
            <a:ext cx="749300" cy="749300"/>
          </a:xfrm>
          <a:prstGeom prst="rect">
            <a:avLst/>
          </a:prstGeom>
        </p:spPr>
      </p:pic>
    </p:spTree>
    <p:extLst>
      <p:ext uri="{BB962C8B-B14F-4D97-AF65-F5344CB8AC3E}">
        <p14:creationId xmlns:p14="http://schemas.microsoft.com/office/powerpoint/2010/main" val="1173110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83CAB7-4DB6-1E0A-4BF1-9141F93E78EA}"/>
              </a:ext>
            </a:extLst>
          </p:cNvPr>
          <p:cNvSpPr>
            <a:spLocks noGrp="1"/>
          </p:cNvSpPr>
          <p:nvPr>
            <p:ph type="title"/>
          </p:nvPr>
        </p:nvSpPr>
        <p:spPr>
          <a:xfrm>
            <a:off x="1854200" y="820033"/>
            <a:ext cx="11212449" cy="1325563"/>
          </a:xfrm>
        </p:spPr>
        <p:txBody>
          <a:bodyPr>
            <a:noAutofit/>
          </a:bodyPr>
          <a:lstStyle/>
          <a:p>
            <a:r>
              <a:rPr lang="en-GB" sz="3400" b="1" i="0" dirty="0">
                <a:effectLst/>
                <a:latin typeface="Arial" panose="020B0604020202020204" pitchFamily="34" charset="0"/>
                <a:cs typeface="Arial" panose="020B0604020202020204" pitchFamily="34" charset="0"/>
              </a:rPr>
              <a:t>Proposed Solution: Smart Parking System Revolutionizing Mobility</a:t>
            </a:r>
            <a:br>
              <a:rPr lang="en-GB" sz="3400" b="0" i="0" dirty="0">
                <a:effectLst/>
                <a:latin typeface="Arial" panose="020B0604020202020204" pitchFamily="34" charset="0"/>
                <a:cs typeface="Arial" panose="020B0604020202020204" pitchFamily="34" charset="0"/>
              </a:rPr>
            </a:br>
            <a:br>
              <a:rPr lang="en-GB" sz="3400" dirty="0">
                <a:latin typeface="Arial" panose="020B0604020202020204" pitchFamily="34" charset="0"/>
                <a:cs typeface="Arial" panose="020B0604020202020204" pitchFamily="34" charset="0"/>
              </a:rPr>
            </a:br>
            <a:endParaRPr lang="en-IN" sz="3400" dirty="0">
              <a:latin typeface="Arial" panose="020B0604020202020204" pitchFamily="34" charset="0"/>
              <a:cs typeface="Arial" panose="020B0604020202020204" pitchFamily="34" charset="0"/>
            </a:endParaRPr>
          </a:p>
        </p:txBody>
      </p:sp>
      <p:sp>
        <p:nvSpPr>
          <p:cNvPr id="1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
            <a:extLst>
              <a:ext uri="{FF2B5EF4-FFF2-40B4-BE49-F238E27FC236}">
                <a16:creationId xmlns:a16="http://schemas.microsoft.com/office/drawing/2014/main" id="{090CCC6F-1ACC-1BB9-47DB-69C363A76F04}"/>
              </a:ext>
            </a:extLst>
          </p:cNvPr>
          <p:cNvSpPr>
            <a:spLocks noGrp="1" noChangeArrowheads="1"/>
          </p:cNvSpPr>
          <p:nvPr>
            <p:ph idx="1"/>
          </p:nvPr>
        </p:nvSpPr>
        <p:spPr bwMode="auto">
          <a:xfrm>
            <a:off x="838200" y="1677373"/>
            <a:ext cx="10515600" cy="42519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198375" rIns="0" bIns="198375" numCol="1"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None/>
              <a:tabLst/>
            </a:pP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In response to the prevalent issue of parking congestion within organizations, we present our visionary solution – the Smart Parking System. This groundbreaking innovation harnesses cutting-edge technology to alleviate parking challenges and enhance campus mobility.</a:t>
            </a:r>
          </a:p>
          <a:p>
            <a:pPr marL="0" marR="0" lvl="0" indent="0" defTabSz="914400" rtl="0" eaLnBrk="0" fontAlgn="base" latinLnBrk="0" hangingPunct="0">
              <a:spcBef>
                <a:spcPct val="0"/>
              </a:spcBef>
              <a:spcAft>
                <a:spcPts val="600"/>
              </a:spcAft>
              <a:buClrTx/>
              <a:buSzTx/>
              <a:buFontTx/>
              <a:buNone/>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Key Features:</a:t>
            </a:r>
            <a:endParaRPr kumimoji="0" lang="en-US" altLang="en-US" sz="1300" b="0" i="0" u="none" strike="noStrike" cap="none" normalizeH="0" baseline="0" dirty="0">
              <a:ln>
                <a:noFill/>
              </a:ln>
              <a:effectLst/>
              <a:latin typeface="Arial" panose="020B0604020202020204" pitchFamily="34" charset="0"/>
              <a:cs typeface="Arial" panose="020B0604020202020204" pitchFamily="34" charset="0"/>
            </a:endParaRPr>
          </a:p>
          <a:p>
            <a:pPr marL="457200" lvl="1" indent="0" eaLnBrk="0" fontAlgn="base" hangingPunct="0">
              <a:spcBef>
                <a:spcPct val="0"/>
              </a:spcBef>
              <a:spcAft>
                <a:spcPts val="600"/>
              </a:spcAft>
              <a:buFontTx/>
              <a:buAutoNum type="arabicPeriod"/>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Prebooking Convenience:</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Our user-friendly mobile application empowers students and faculty to effortlessly reserve parking slots in advance, ensuring seamless availability and convenience.</a:t>
            </a:r>
          </a:p>
          <a:p>
            <a:pPr marL="457200" lvl="1" indent="0" eaLnBrk="0" fontAlgn="base" hangingPunct="0">
              <a:spcBef>
                <a:spcPct val="0"/>
              </a:spcBef>
              <a:spcAft>
                <a:spcPts val="600"/>
              </a:spcAft>
              <a:buFontTx/>
              <a:buAutoNum type="arabicPeriod" startAt="2"/>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Live-Time Monitoring:</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By deploying a network of real-time cameras at parking entrances and exits, we enable accurate monitoring of occupancy status. Users gain instant access to up-to-the-minute parking information.</a:t>
            </a:r>
          </a:p>
          <a:p>
            <a:pPr marL="457200" lvl="1" indent="0" eaLnBrk="0" fontAlgn="base" hangingPunct="0">
              <a:spcBef>
                <a:spcPct val="0"/>
              </a:spcBef>
              <a:spcAft>
                <a:spcPts val="600"/>
              </a:spcAft>
              <a:buFontTx/>
              <a:buAutoNum type="arabicPeriod" startAt="3"/>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QR Code Integration:</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Streamlining the parking process, our QR code scanning technology at entry points facilitates hassle-free user identification and instant parking slot booking.</a:t>
            </a:r>
          </a:p>
          <a:p>
            <a:pPr marL="457200" lvl="1" indent="0" eaLnBrk="0" fontAlgn="base" hangingPunct="0">
              <a:spcBef>
                <a:spcPct val="0"/>
              </a:spcBef>
              <a:spcAft>
                <a:spcPts val="600"/>
              </a:spcAft>
              <a:buFontTx/>
              <a:buAutoNum type="arabicPeriod" startAt="4"/>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Real-Time Notifications:</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Automated messaging keeps users informed about assigned parking slots, locations, and any changes in availability, enabling stress-free parking experiences.</a:t>
            </a:r>
          </a:p>
          <a:p>
            <a:pPr marL="457200" lvl="1" indent="0" eaLnBrk="0" fontAlgn="base" hangingPunct="0">
              <a:spcBef>
                <a:spcPct val="0"/>
              </a:spcBef>
              <a:spcAft>
                <a:spcPts val="600"/>
              </a:spcAft>
              <a:buFontTx/>
              <a:buAutoNum type="arabicPeriod" startAt="5"/>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Comprehensive App:</a:t>
            </a: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 Our feature-rich mobile application provides an intuitive interface displaying parking locations, real-time availability, and pertinent details, significantly enriching the overall parking journey.</a:t>
            </a:r>
          </a:p>
          <a:p>
            <a:pPr marL="0" marR="0" lvl="0" indent="0" defTabSz="914400" rtl="0" eaLnBrk="0" fontAlgn="base" latinLnBrk="0" hangingPunct="0">
              <a:spcBef>
                <a:spcPct val="0"/>
              </a:spcBef>
              <a:spcAft>
                <a:spcPts val="600"/>
              </a:spcAft>
              <a:buClrTx/>
              <a:buSzTx/>
              <a:buFontTx/>
              <a:buNone/>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Impact:</a:t>
            </a:r>
            <a:endParaRPr kumimoji="0" lang="en-US" altLang="en-US" sz="1300" b="0" i="0" u="none" strike="noStrike" cap="none" normalizeH="0" baseline="0" dirty="0">
              <a:ln>
                <a:noFill/>
              </a:ln>
              <a:effectLst/>
              <a:latin typeface="Arial" panose="020B0604020202020204" pitchFamily="34" charset="0"/>
              <a:cs typeface="Arial" panose="020B0604020202020204" pitchFamily="34" charset="0"/>
            </a:endParaRPr>
          </a:p>
          <a:p>
            <a:pPr marL="457200" lvl="1" indent="0" eaLnBrk="0" fontAlgn="base" hangingPunct="0">
              <a:spcBef>
                <a:spcPct val="0"/>
              </a:spcBef>
              <a:spcAft>
                <a:spcPts val="600"/>
              </a:spcAft>
              <a:buNone/>
            </a:pP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By leveraging the potential of technology-driven solutions, our Smart Parking System aims to optimize parking resource utilization, elevate convenience for all users, and catalyze improved campus mobility.</a:t>
            </a:r>
          </a:p>
          <a:p>
            <a:pPr marL="0" marR="0" lvl="0" indent="0" defTabSz="914400" rtl="0" eaLnBrk="0" fontAlgn="base" latinLnBrk="0" hangingPunct="0">
              <a:spcBef>
                <a:spcPct val="0"/>
              </a:spcBef>
              <a:spcAft>
                <a:spcPts val="600"/>
              </a:spcAft>
              <a:buClrTx/>
              <a:buSzTx/>
              <a:buFontTx/>
              <a:buNone/>
              <a:tabLst/>
            </a:pPr>
            <a:r>
              <a:rPr kumimoji="0" lang="en-US" altLang="en-US" sz="1300" b="1" i="0" u="none" strike="noStrike" cap="none" normalizeH="0" baseline="0" dirty="0">
                <a:ln>
                  <a:noFill/>
                </a:ln>
                <a:effectLst/>
                <a:latin typeface="Arial" panose="020B0604020202020204" pitchFamily="34" charset="0"/>
                <a:cs typeface="Arial" panose="020B0604020202020204" pitchFamily="34" charset="0"/>
              </a:rPr>
              <a:t>Innovation at the Core:</a:t>
            </a:r>
            <a:endParaRPr kumimoji="0" lang="en-US" altLang="en-US" sz="1300" b="0" i="0" u="none" strike="noStrike" cap="none" normalizeH="0" baseline="0" dirty="0">
              <a:ln>
                <a:noFill/>
              </a:ln>
              <a:effectLst/>
              <a:latin typeface="Arial" panose="020B0604020202020204" pitchFamily="34" charset="0"/>
              <a:cs typeface="Arial" panose="020B0604020202020204" pitchFamily="34" charset="0"/>
            </a:endParaRPr>
          </a:p>
          <a:p>
            <a:pPr marL="457200" lvl="1" indent="0" eaLnBrk="0" fontAlgn="base" hangingPunct="0">
              <a:spcBef>
                <a:spcPct val="0"/>
              </a:spcBef>
              <a:spcAft>
                <a:spcPts val="600"/>
              </a:spcAft>
              <a:buNone/>
            </a:pPr>
            <a: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t>Our project represents a pioneering leap in parking management, addressing the persistent challenge of parking congestion through innovation. By integrating these technologies, we offer a holistic solution that redefines how organizations manage parking resources efficiently and seamlessly.</a:t>
            </a:r>
          </a:p>
          <a:p>
            <a:pPr marL="0" marR="0" lvl="0" indent="0" defTabSz="914400" rtl="0" eaLnBrk="0" fontAlgn="base" latinLnBrk="0" hangingPunct="0">
              <a:spcBef>
                <a:spcPct val="0"/>
              </a:spcBef>
              <a:spcAft>
                <a:spcPts val="600"/>
              </a:spcAft>
              <a:buClrTx/>
              <a:buSzTx/>
              <a:buFontTx/>
              <a:buNone/>
              <a:tabLst/>
            </a:pPr>
            <a:br>
              <a:rPr kumimoji="0" lang="en-US" altLang="en-US" sz="1300" b="0" i="0" u="none" strike="noStrike" cap="none" normalizeH="0" baseline="0" dirty="0">
                <a:ln>
                  <a:noFill/>
                </a:ln>
                <a:effectLst/>
                <a:latin typeface="Arial" panose="020B0604020202020204" pitchFamily="34" charset="0"/>
                <a:cs typeface="Arial" panose="020B0604020202020204" pitchFamily="34" charset="0"/>
              </a:rPr>
            </a:br>
            <a:endParaRPr kumimoji="0" lang="en-US" altLang="en-US" sz="1300" b="0" i="0" u="none" strike="noStrike" cap="none" normalizeH="0" baseline="0" dirty="0">
              <a:ln>
                <a:noFill/>
              </a:ln>
              <a:effectLst/>
              <a:latin typeface="Arial" panose="020B0604020202020204" pitchFamily="34" charset="0"/>
              <a:cs typeface="Arial" panose="020B0604020202020204" pitchFamily="34" charset="0"/>
            </a:endParaRPr>
          </a:p>
        </p:txBody>
      </p:sp>
      <p:pic>
        <p:nvPicPr>
          <p:cNvPr id="5" name="Graphic 4" descr="Traffic Light">
            <a:extLst>
              <a:ext uri="{FF2B5EF4-FFF2-40B4-BE49-F238E27FC236}">
                <a16:creationId xmlns:a16="http://schemas.microsoft.com/office/drawing/2014/main" id="{573B1C9D-4FE7-E4F2-1821-1D019C9243D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499403"/>
            <a:ext cx="749300" cy="749300"/>
          </a:xfrm>
          <a:prstGeom prst="rect">
            <a:avLst/>
          </a:prstGeom>
        </p:spPr>
      </p:pic>
    </p:spTree>
    <p:extLst>
      <p:ext uri="{BB962C8B-B14F-4D97-AF65-F5344CB8AC3E}">
        <p14:creationId xmlns:p14="http://schemas.microsoft.com/office/powerpoint/2010/main" val="264533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9E3D-3D75-DF29-8689-666CC8499164}"/>
              </a:ext>
            </a:extLst>
          </p:cNvPr>
          <p:cNvSpPr>
            <a:spLocks noGrp="1"/>
          </p:cNvSpPr>
          <p:nvPr>
            <p:ph type="title"/>
          </p:nvPr>
        </p:nvSpPr>
        <p:spPr>
          <a:xfrm>
            <a:off x="1498219" y="374468"/>
            <a:ext cx="10515600" cy="1325563"/>
          </a:xfrm>
        </p:spPr>
        <p:txBody>
          <a:bodyPr>
            <a:normAutofit/>
          </a:bodyPr>
          <a:lstStyle/>
          <a:p>
            <a:r>
              <a:rPr lang="en-GB" sz="3400" b="1" i="0" dirty="0">
                <a:effectLst/>
                <a:latin typeface="Söhne"/>
              </a:rPr>
              <a:t>Driving Change with Innovative Technology: The Smart Parking System Advantage</a:t>
            </a:r>
            <a:endParaRPr lang="en-IN" sz="3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5EDB8B6-97B3-DFFF-743A-71A38E5FC290}"/>
              </a:ext>
            </a:extLst>
          </p:cNvPr>
          <p:cNvSpPr>
            <a:spLocks noGrp="1"/>
          </p:cNvSpPr>
          <p:nvPr>
            <p:ph idx="1"/>
          </p:nvPr>
        </p:nvSpPr>
        <p:spPr>
          <a:xfrm>
            <a:off x="838200" y="1929384"/>
            <a:ext cx="10515600" cy="4251960"/>
          </a:xfrm>
        </p:spPr>
        <p:txBody>
          <a:bodyPr>
            <a:normAutofit/>
          </a:bodyPr>
          <a:lstStyle/>
          <a:p>
            <a:pPr marL="0" indent="0">
              <a:buNone/>
            </a:pPr>
            <a:r>
              <a:rPr lang="en-GB" sz="1700" b="0" i="0" dirty="0">
                <a:effectLst/>
                <a:latin typeface="Söhne"/>
              </a:rPr>
              <a:t>Our innovation, the Smart Parking System, harnesses technology to ignite transformative change within parking management. This pioneering approach accelerates change in several impactful ways:</a:t>
            </a:r>
            <a:endParaRPr lang="en-GB" sz="1700" b="1" i="0" dirty="0">
              <a:effectLst/>
              <a:latin typeface="Söhne"/>
            </a:endParaRPr>
          </a:p>
          <a:p>
            <a:pPr>
              <a:buFont typeface="Arial" panose="020B0604020202020204" pitchFamily="34" charset="0"/>
              <a:buChar char="•"/>
            </a:pPr>
            <a:r>
              <a:rPr lang="en-GB" sz="1700" b="1" i="0" dirty="0">
                <a:effectLst/>
                <a:latin typeface="Söhne"/>
              </a:rPr>
              <a:t>Efficiency Amplified:</a:t>
            </a:r>
            <a:r>
              <a:rPr lang="en-GB" sz="1700" b="0" i="0" dirty="0">
                <a:effectLst/>
                <a:latin typeface="Söhne"/>
              </a:rPr>
              <a:t> By leveraging real-time monitoring and data analytics, our system optimizes parking space utilization. This reduces congestion, curtails wasted time, and enhances overall operational efficiency.</a:t>
            </a:r>
          </a:p>
          <a:p>
            <a:pPr>
              <a:buFont typeface="Arial" panose="020B0604020202020204" pitchFamily="34" charset="0"/>
              <a:buChar char="•"/>
            </a:pPr>
            <a:r>
              <a:rPr lang="en-GB" sz="1700" b="1" i="0" dirty="0">
                <a:effectLst/>
                <a:latin typeface="Arial" panose="020B0604020202020204" pitchFamily="34" charset="0"/>
                <a:cs typeface="Arial" panose="020B0604020202020204" pitchFamily="34" charset="0"/>
              </a:rPr>
              <a:t>User-Centric</a:t>
            </a:r>
            <a:r>
              <a:rPr lang="en-GB" sz="1700" b="1" i="0" dirty="0">
                <a:effectLst/>
                <a:latin typeface="Söhne"/>
              </a:rPr>
              <a:t> Revolution:</a:t>
            </a:r>
            <a:r>
              <a:rPr lang="en-GB" sz="1700" b="0" i="0" dirty="0">
                <a:effectLst/>
                <a:latin typeface="Söhne"/>
              </a:rPr>
              <a:t> Through a user-friendly mobile application and seamless QR code integration, we revolutionize the parking experience. This streamlined process enhances convenience, minimizes frustration, and saves valuable time for all stakeholders.</a:t>
            </a:r>
          </a:p>
          <a:p>
            <a:pPr>
              <a:buFont typeface="Arial" panose="020B0604020202020204" pitchFamily="34" charset="0"/>
              <a:buChar char="•"/>
            </a:pPr>
            <a:r>
              <a:rPr lang="en-GB" sz="1700" b="1" i="0" dirty="0">
                <a:effectLst/>
                <a:latin typeface="Söhne"/>
              </a:rPr>
              <a:t>Informed Decision-Making:</a:t>
            </a:r>
            <a:r>
              <a:rPr lang="en-GB" sz="1700" b="0" i="0" dirty="0">
                <a:effectLst/>
                <a:latin typeface="Söhne"/>
              </a:rPr>
              <a:t> Our technology empowers administrators with real-time occupancy insights, aiding informed decisions about resource allocation, expansions, and improvements. This data-driven approach enhances planning accuracy.</a:t>
            </a:r>
          </a:p>
          <a:p>
            <a:pPr>
              <a:buFont typeface="Arial" panose="020B0604020202020204" pitchFamily="34" charset="0"/>
              <a:buChar char="•"/>
            </a:pPr>
            <a:r>
              <a:rPr lang="en-GB" sz="1700" b="1" i="0" dirty="0">
                <a:effectLst/>
                <a:latin typeface="Söhne"/>
              </a:rPr>
              <a:t>Sustainability Focused:</a:t>
            </a:r>
            <a:r>
              <a:rPr lang="en-GB" sz="1700" b="0" i="0" dirty="0">
                <a:effectLst/>
                <a:latin typeface="Söhne"/>
              </a:rPr>
              <a:t> With reduced circling and idling, our solution promotes sustainability. By curbing emissions and conserving fuel, we contribute to a greener environment and align with eco-friendly practices.</a:t>
            </a:r>
          </a:p>
          <a:p>
            <a:pPr>
              <a:buFont typeface="Arial" panose="020B0604020202020204" pitchFamily="34" charset="0"/>
              <a:buChar char="•"/>
            </a:pPr>
            <a:r>
              <a:rPr lang="en-GB" sz="1700" b="1" i="0" dirty="0">
                <a:effectLst/>
                <a:latin typeface="Söhne"/>
              </a:rPr>
              <a:t>Holistic Mobility Hub:</a:t>
            </a:r>
            <a:r>
              <a:rPr lang="en-GB" sz="1700" b="0" i="0" dirty="0">
                <a:effectLst/>
                <a:latin typeface="Söhne"/>
              </a:rPr>
              <a:t> Beyond parking, our comprehensive app becomes a hub for various mobility services. Shuttle schedules, traffic updates, and ride-sharing options foster enhanced campus mobility.</a:t>
            </a:r>
            <a:br>
              <a:rPr lang="en-GB" sz="1700" dirty="0"/>
            </a:br>
            <a:endParaRPr lang="en-IN" sz="1700" dirty="0"/>
          </a:p>
        </p:txBody>
      </p:sp>
      <p:pic>
        <p:nvPicPr>
          <p:cNvPr id="6" name="Graphic 5" descr="Traffic Light">
            <a:extLst>
              <a:ext uri="{FF2B5EF4-FFF2-40B4-BE49-F238E27FC236}">
                <a16:creationId xmlns:a16="http://schemas.microsoft.com/office/drawing/2014/main" id="{97D8FA94-33FD-CC31-50A3-1CB7FE18C8D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772" y="606847"/>
            <a:ext cx="860806" cy="860806"/>
          </a:xfrm>
          <a:prstGeom prst="rect">
            <a:avLst/>
          </a:prstGeom>
        </p:spPr>
      </p:pic>
    </p:spTree>
    <p:extLst>
      <p:ext uri="{BB962C8B-B14F-4D97-AF65-F5344CB8AC3E}">
        <p14:creationId xmlns:p14="http://schemas.microsoft.com/office/powerpoint/2010/main" val="1875868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F533A0-AA17-7A6A-DEC8-E146C53F3CA1}"/>
              </a:ext>
            </a:extLst>
          </p:cNvPr>
          <p:cNvSpPr>
            <a:spLocks noGrp="1"/>
          </p:cNvSpPr>
          <p:nvPr>
            <p:ph type="title"/>
          </p:nvPr>
        </p:nvSpPr>
        <p:spPr>
          <a:xfrm>
            <a:off x="1501140" y="804871"/>
            <a:ext cx="10515600" cy="1325563"/>
          </a:xfrm>
        </p:spPr>
        <p:txBody>
          <a:bodyPr>
            <a:noAutofit/>
          </a:bodyPr>
          <a:lstStyle/>
          <a:p>
            <a:r>
              <a:rPr lang="en-GB" sz="3400" b="1" i="0" dirty="0">
                <a:effectLst/>
                <a:latin typeface="Söhne"/>
              </a:rPr>
              <a:t>Innovative Distinction: Unveiling the Uniqueness of the Smart Parking System</a:t>
            </a:r>
            <a:br>
              <a:rPr lang="en-GB" sz="3400" b="0" i="0" dirty="0">
                <a:effectLst/>
                <a:latin typeface="Söhne"/>
              </a:rPr>
            </a:br>
            <a:br>
              <a:rPr lang="en-GB" sz="3400" dirty="0"/>
            </a:br>
            <a:endParaRPr lang="en-IN" sz="3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760E00-57AD-F32A-60FD-EB05C373A39A}"/>
              </a:ext>
            </a:extLst>
          </p:cNvPr>
          <p:cNvSpPr>
            <a:spLocks noGrp="1"/>
          </p:cNvSpPr>
          <p:nvPr>
            <p:ph idx="1"/>
          </p:nvPr>
        </p:nvSpPr>
        <p:spPr>
          <a:xfrm>
            <a:off x="838200" y="1929384"/>
            <a:ext cx="10515600" cy="3453765"/>
          </a:xfrm>
        </p:spPr>
        <p:txBody>
          <a:bodyPr>
            <a:noAutofit/>
          </a:bodyPr>
          <a:lstStyle/>
          <a:p>
            <a:pPr marL="0" indent="0">
              <a:buNone/>
            </a:pPr>
            <a:r>
              <a:rPr lang="en-GB" sz="1600" b="0" i="0" dirty="0">
                <a:effectLst/>
                <a:latin typeface="Söhne"/>
              </a:rPr>
              <a:t>In a landscape saturated with parking solutions, the Smart Parking System sets a new benchmark with its exceptional attributes, effectively distinguishing us from the competition:</a:t>
            </a:r>
          </a:p>
          <a:p>
            <a:pPr>
              <a:buFont typeface="Arial" panose="020B0604020202020204" pitchFamily="34" charset="0"/>
              <a:buChar char="•"/>
            </a:pPr>
            <a:r>
              <a:rPr lang="en-GB" sz="1600" b="1" i="0" dirty="0">
                <a:effectLst/>
                <a:latin typeface="Söhne"/>
              </a:rPr>
              <a:t>Advanced Real-Time Monitoring:</a:t>
            </a:r>
            <a:r>
              <a:rPr lang="en-GB" sz="1600" b="0" i="0" dirty="0">
                <a:effectLst/>
                <a:latin typeface="Söhne"/>
              </a:rPr>
              <a:t> Our system stands out with its network of state-of-the-art cameras that provide immediate occupancy updates. Unlike conventional solutions, which may offer delayed data, our real-time monitoring ensures unparalleled accuracy and reliability.</a:t>
            </a:r>
          </a:p>
          <a:p>
            <a:pPr>
              <a:buFont typeface="Arial" panose="020B0604020202020204" pitchFamily="34" charset="0"/>
              <a:buChar char="•"/>
            </a:pPr>
            <a:r>
              <a:rPr lang="en-GB" sz="1600" b="1" i="0" dirty="0">
                <a:effectLst/>
                <a:latin typeface="Söhne"/>
              </a:rPr>
              <a:t>Seamless Integration with QR Codes:</a:t>
            </a:r>
            <a:r>
              <a:rPr lang="en-GB" sz="1600" b="0" i="0" dirty="0">
                <a:effectLst/>
                <a:latin typeface="Söhne"/>
              </a:rPr>
              <a:t> The incorporation of QR code technology at entry points sets us apart by simplifying user identification and slot reservation. The seamless integration we offer surpasses the complexities associated with conventional methods.</a:t>
            </a:r>
          </a:p>
          <a:p>
            <a:pPr>
              <a:buFont typeface="Arial" panose="020B0604020202020204" pitchFamily="34" charset="0"/>
              <a:buChar char="•"/>
            </a:pPr>
            <a:r>
              <a:rPr lang="en-GB" sz="1600" b="1" i="0" dirty="0">
                <a:effectLst/>
                <a:latin typeface="Söhne"/>
              </a:rPr>
              <a:t>Comprehensive Mobility Hub:</a:t>
            </a:r>
            <a:r>
              <a:rPr lang="en-GB" sz="1600" b="0" i="0" dirty="0">
                <a:effectLst/>
                <a:latin typeface="Söhne"/>
              </a:rPr>
              <a:t> Our app transcends traditional parking solutions by serving as a versatile mobility hub. It enriches user experiences with a range of services, a unique feature absent in other singular-purpose solutions.</a:t>
            </a:r>
          </a:p>
          <a:p>
            <a:pPr>
              <a:buFont typeface="Arial" panose="020B0604020202020204" pitchFamily="34" charset="0"/>
              <a:buChar char="•"/>
            </a:pPr>
            <a:r>
              <a:rPr lang="en-GB" sz="1600" b="1" i="0" dirty="0">
                <a:effectLst/>
                <a:latin typeface="Söhne"/>
              </a:rPr>
              <a:t>Holistic Sustainability:</a:t>
            </a:r>
            <a:r>
              <a:rPr lang="en-GB" sz="1600" b="0" i="0" dirty="0">
                <a:effectLst/>
                <a:latin typeface="Söhne"/>
              </a:rPr>
              <a:t> Our solution not only manages parking but also emphasizes sustainability. By mitigating emissions and supporting eco-friendly practices, we go beyond standard solutions that solely focus on parking management.</a:t>
            </a:r>
          </a:p>
          <a:p>
            <a:pPr>
              <a:buFont typeface="Arial" panose="020B0604020202020204" pitchFamily="34" charset="0"/>
              <a:buChar char="•"/>
            </a:pPr>
            <a:r>
              <a:rPr lang="en-GB" sz="1600" b="1" i="0" dirty="0">
                <a:effectLst/>
                <a:latin typeface="Söhne"/>
              </a:rPr>
              <a:t>AI-Powered Predictive Analysis:</a:t>
            </a:r>
            <a:r>
              <a:rPr lang="en-GB" sz="1600" b="0" i="0" dirty="0">
                <a:effectLst/>
                <a:latin typeface="Söhne"/>
              </a:rPr>
              <a:t> Our innovation stands apart by employing AI to predict parking demand. Our system's algorithm harnesses past data to create forecasts based on factors like time, weather, traffic, and user behavior.</a:t>
            </a:r>
          </a:p>
          <a:p>
            <a:pPr>
              <a:buFont typeface="Arial" panose="020B0604020202020204" pitchFamily="34" charset="0"/>
              <a:buChar char="•"/>
            </a:pPr>
            <a:r>
              <a:rPr lang="en-GB" sz="1600" b="1" i="0" dirty="0">
                <a:effectLst/>
                <a:latin typeface="Söhne"/>
              </a:rPr>
              <a:t>Advantages for Parking Managers:</a:t>
            </a:r>
            <a:r>
              <a:rPr lang="en-GB" sz="1600" b="0" i="0" dirty="0">
                <a:effectLst/>
                <a:latin typeface="Söhne"/>
              </a:rPr>
              <a:t> This AI-powered feature equips parking managers with predictions of future demand, considering intricate variables. From time slots to weather conditions, our solution empowers better decision-making.</a:t>
            </a:r>
            <a:br>
              <a:rPr lang="en-GB" sz="1600" dirty="0"/>
            </a:br>
            <a:endParaRPr lang="en-IN" sz="1600" dirty="0"/>
          </a:p>
        </p:txBody>
      </p:sp>
      <p:pic>
        <p:nvPicPr>
          <p:cNvPr id="4" name="Graphic 3" descr="Traffic Light">
            <a:extLst>
              <a:ext uri="{FF2B5EF4-FFF2-40B4-BE49-F238E27FC236}">
                <a16:creationId xmlns:a16="http://schemas.microsoft.com/office/drawing/2014/main" id="{A1E0417A-250D-483E-31DA-29B4C23380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772" y="606847"/>
            <a:ext cx="860806" cy="860806"/>
          </a:xfrm>
          <a:prstGeom prst="rect">
            <a:avLst/>
          </a:prstGeom>
        </p:spPr>
      </p:pic>
    </p:spTree>
    <p:extLst>
      <p:ext uri="{BB962C8B-B14F-4D97-AF65-F5344CB8AC3E}">
        <p14:creationId xmlns:p14="http://schemas.microsoft.com/office/powerpoint/2010/main" val="1332606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EF17487-C386-4F99-B5EB-4FD3DF423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Title 1">
            <a:extLst>
              <a:ext uri="{FF2B5EF4-FFF2-40B4-BE49-F238E27FC236}">
                <a16:creationId xmlns:a16="http://schemas.microsoft.com/office/drawing/2014/main" id="{E7F533A0-AA17-7A6A-DEC8-E146C53F3CA1}"/>
              </a:ext>
            </a:extLst>
          </p:cNvPr>
          <p:cNvSpPr>
            <a:spLocks noGrp="1"/>
          </p:cNvSpPr>
          <p:nvPr>
            <p:ph type="title"/>
          </p:nvPr>
        </p:nvSpPr>
        <p:spPr>
          <a:xfrm>
            <a:off x="1246824" y="643467"/>
            <a:ext cx="4772975" cy="1800526"/>
          </a:xfrm>
        </p:spPr>
        <p:txBody>
          <a:bodyPr>
            <a:normAutofit/>
          </a:bodyPr>
          <a:lstStyle/>
          <a:p>
            <a:pPr marL="90805">
              <a:spcBef>
                <a:spcPts val="625"/>
              </a:spcBef>
            </a:pPr>
            <a:r>
              <a:rPr lang="en-GB" b="1" spc="-5">
                <a:latin typeface="Arial"/>
                <a:cs typeface="Arial"/>
              </a:rPr>
              <a:t>Working Prototype</a:t>
            </a:r>
            <a:endParaRPr lang="en-GB">
              <a:latin typeface="Arial"/>
              <a:cs typeface="Arial"/>
            </a:endParaRPr>
          </a:p>
        </p:txBody>
      </p:sp>
      <p:sp>
        <p:nvSpPr>
          <p:cNvPr id="3" name="Content Placeholder 2">
            <a:extLst>
              <a:ext uri="{FF2B5EF4-FFF2-40B4-BE49-F238E27FC236}">
                <a16:creationId xmlns:a16="http://schemas.microsoft.com/office/drawing/2014/main" id="{1A760E00-57AD-F32A-60FD-EB05C373A39A}"/>
              </a:ext>
            </a:extLst>
          </p:cNvPr>
          <p:cNvSpPr>
            <a:spLocks noGrp="1"/>
          </p:cNvSpPr>
          <p:nvPr>
            <p:ph idx="1"/>
          </p:nvPr>
        </p:nvSpPr>
        <p:spPr>
          <a:xfrm>
            <a:off x="1246824" y="2623381"/>
            <a:ext cx="4772974" cy="3553581"/>
          </a:xfrm>
        </p:spPr>
        <p:txBody>
          <a:bodyPr>
            <a:normAutofit/>
          </a:bodyPr>
          <a:lstStyle/>
          <a:p>
            <a:pPr marL="0" indent="0">
              <a:buNone/>
            </a:pPr>
            <a:r>
              <a:rPr lang="en-IN" sz="2000" b="1" spc="-35">
                <a:latin typeface="Arial" panose="020B0604020202020204" pitchFamily="34" charset="0"/>
                <a:cs typeface="Arial" panose="020B0604020202020204" pitchFamily="34" charset="0"/>
              </a:rPr>
              <a:t>PATENT</a:t>
            </a:r>
            <a:r>
              <a:rPr lang="en-IN" sz="2000" b="1" spc="365">
                <a:latin typeface="Arial" panose="020B0604020202020204" pitchFamily="34" charset="0"/>
                <a:cs typeface="Arial" panose="020B0604020202020204" pitchFamily="34" charset="0"/>
              </a:rPr>
              <a:t> </a:t>
            </a:r>
            <a:r>
              <a:rPr lang="en-IN" sz="2000" b="1" spc="-5">
                <a:latin typeface="Arial" panose="020B0604020202020204" pitchFamily="34" charset="0"/>
                <a:cs typeface="Arial" panose="020B0604020202020204" pitchFamily="34" charset="0"/>
              </a:rPr>
              <a:t>FILED:</a:t>
            </a:r>
            <a:r>
              <a:rPr lang="en-IN" sz="2000" b="1" spc="-15">
                <a:latin typeface="Arial" panose="020B0604020202020204" pitchFamily="34" charset="0"/>
                <a:cs typeface="Arial" panose="020B0604020202020204" pitchFamily="34" charset="0"/>
              </a:rPr>
              <a:t> </a:t>
            </a:r>
            <a:r>
              <a:rPr lang="en-IN" sz="2000" b="1" spc="-25">
                <a:latin typeface="Arial" panose="020B0604020202020204" pitchFamily="34" charset="0"/>
                <a:cs typeface="Arial" panose="020B0604020202020204" pitchFamily="34" charset="0"/>
              </a:rPr>
              <a:t>NO</a:t>
            </a:r>
            <a:endParaRPr lang="en-GB" sz="2000" b="1" spc="-25">
              <a:latin typeface="Arial" panose="020B0604020202020204" pitchFamily="34" charset="0"/>
              <a:cs typeface="Arial" panose="020B0604020202020204" pitchFamily="34" charset="0"/>
            </a:endParaRPr>
          </a:p>
          <a:p>
            <a:pPr marL="0" indent="0">
              <a:buNone/>
            </a:pPr>
            <a:r>
              <a:rPr lang="en-GB" sz="2000"/>
              <a:t>GitHub - </a:t>
            </a:r>
            <a:r>
              <a:rPr lang="en-IN" sz="2000">
                <a:hlinkClick r:id="rId2"/>
              </a:rPr>
              <a:t>Balajithegr8/Smart-parking-system (github.com)</a:t>
            </a:r>
            <a:endParaRPr lang="en-IN" sz="2000"/>
          </a:p>
          <a:p>
            <a:pPr marL="0" indent="0">
              <a:buNone/>
            </a:pPr>
            <a:endParaRPr lang="en-IN" sz="2000"/>
          </a:p>
        </p:txBody>
      </p:sp>
      <p:pic>
        <p:nvPicPr>
          <p:cNvPr id="7" name="Picture 6">
            <a:extLst>
              <a:ext uri="{FF2B5EF4-FFF2-40B4-BE49-F238E27FC236}">
                <a16:creationId xmlns:a16="http://schemas.microsoft.com/office/drawing/2014/main" id="{5BF38470-3A97-8197-134D-DFB1976585D3}"/>
              </a:ext>
            </a:extLst>
          </p:cNvPr>
          <p:cNvPicPr>
            <a:picLocks noChangeAspect="1"/>
          </p:cNvPicPr>
          <p:nvPr/>
        </p:nvPicPr>
        <p:blipFill>
          <a:blip r:embed="rId3"/>
          <a:stretch>
            <a:fillRect/>
          </a:stretch>
        </p:blipFill>
        <p:spPr>
          <a:xfrm>
            <a:off x="6094476" y="548335"/>
            <a:ext cx="5963983" cy="3175820"/>
          </a:xfrm>
          <a:prstGeom prst="rect">
            <a:avLst/>
          </a:prstGeom>
        </p:spPr>
      </p:pic>
      <p:pic>
        <p:nvPicPr>
          <p:cNvPr id="4" name="Graphic 3" descr="Traffic Light">
            <a:extLst>
              <a:ext uri="{FF2B5EF4-FFF2-40B4-BE49-F238E27FC236}">
                <a16:creationId xmlns:a16="http://schemas.microsoft.com/office/drawing/2014/main" id="{A1E0417A-250D-483E-31DA-29B4C23380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3467" y="4272490"/>
            <a:ext cx="2585510" cy="2585510"/>
          </a:xfrm>
          <a:prstGeom prst="rect">
            <a:avLst/>
          </a:prstGeom>
        </p:spPr>
      </p:pic>
    </p:spTree>
    <p:extLst>
      <p:ext uri="{BB962C8B-B14F-4D97-AF65-F5344CB8AC3E}">
        <p14:creationId xmlns:p14="http://schemas.microsoft.com/office/powerpoint/2010/main" val="1799677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6C28BA6D-DF6E-2E61-160C-4000A4B305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72733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E729E-4FF5-9A0E-BF9E-A63C744396B3}"/>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E844F898-3576-4EE8-F47D-12029CE361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70575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94147-FA3D-D13E-1217-209D321B5DE7}"/>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28F05E13-DBD5-1D35-11E8-DB887C9CEE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57807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9628D-CF4B-A3AB-CFB4-92FB839D613D}"/>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60B2484-076E-FFFC-2548-3496D9CEA6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83721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958C1-F87F-0EC2-7ACF-E40D54536921}"/>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6188AE20-8BD6-3C12-81FC-D2F669B0AA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62042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98E6C-22A7-A735-05E9-76F4C4ECD9E1}"/>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F78D172B-5BDF-E0A6-15A3-2B08AC1F1E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38421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6CBE2-7DFE-68B4-EEFC-6783445A98C2}"/>
            </a:ext>
          </a:extLst>
        </p:cNvPr>
        <p:cNvGrpSpPr/>
        <p:nvPr/>
      </p:nvGrpSpPr>
      <p:grpSpPr>
        <a:xfrm>
          <a:off x="0" y="0"/>
          <a:ext cx="0" cy="0"/>
          <a:chOff x="0" y="0"/>
          <a:chExt cx="0" cy="0"/>
        </a:xfrm>
      </p:grpSpPr>
      <p:pic>
        <p:nvPicPr>
          <p:cNvPr id="3" name="Picture 2" descr="A screenshot of a computer">
            <a:extLst>
              <a:ext uri="{FF2B5EF4-FFF2-40B4-BE49-F238E27FC236}">
                <a16:creationId xmlns:a16="http://schemas.microsoft.com/office/drawing/2014/main" id="{26A1CAAB-6B4A-F411-6C8E-C213CD77E9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59724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4496A-AC42-469C-8E6D-021D5BA041BA}"/>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019EC0A9-BC07-4C55-CF49-9699CE355B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21059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92A9B-1E7B-8C4A-82E8-B37580365ED4}"/>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1490123D-5D26-D068-3480-7B41AFF998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40998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8D117-D97D-E26D-7F1B-FF443B32261F}"/>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8E1A4018-D41B-B987-CF64-B3C2D902FF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61845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00AAF-3C1E-99CA-2423-8AFC48BEF94B}"/>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9FF0B6BB-D85A-FFC2-66A0-E9A1C6FEA8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99054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FDE82-5DA2-7CD9-5A67-8D9B3E486B25}"/>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45CF3FDF-CC0A-6158-E896-AF8EEAC2F2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46503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47715-4F64-53CB-2FB3-397B0EC9CF64}"/>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29F04EAF-D38F-9023-0AC5-8010A19DA0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93830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31F43-7722-FF69-7E9D-A146CC47EB48}"/>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78D032A-4A19-3213-97FB-44242287E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9468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4EFA7-AE13-49D4-8D68-0FB47AFBC7DA}"/>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C05CC7A2-6F1B-F338-5C8E-A088C4703B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7172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1704F-3B5B-0262-A788-31F9293159C8}"/>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2DD228B1-36AE-160B-831F-2D422378A8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57749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05888-A9C6-5D0D-B64B-085A86C02F25}"/>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60D439D3-4E50-330B-0ADB-F53536FD1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22061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21393-0FB5-66A2-7AA3-9A0F89E41088}"/>
            </a:ext>
          </a:extLst>
        </p:cNvPr>
        <p:cNvGrpSpPr/>
        <p:nvPr/>
      </p:nvGrpSpPr>
      <p:grpSpPr>
        <a:xfrm>
          <a:off x="0" y="0"/>
          <a:ext cx="0" cy="0"/>
          <a:chOff x="0" y="0"/>
          <a:chExt cx="0" cy="0"/>
        </a:xfrm>
      </p:grpSpPr>
      <p:pic>
        <p:nvPicPr>
          <p:cNvPr id="5" name="Picture 4" descr="A screen shot of a graph&#10;&#10;Description automatically generated">
            <a:extLst>
              <a:ext uri="{FF2B5EF4-FFF2-40B4-BE49-F238E27FC236}">
                <a16:creationId xmlns:a16="http://schemas.microsoft.com/office/drawing/2014/main" id="{F7F45918-E20C-41DC-386D-4C9E745F7A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71949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D47AD-8D42-312C-DC7D-84C4242CAE74}"/>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2EE4394C-1833-F07D-C4D2-293BE86F25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93230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D13F9-80A0-DB65-8F32-F03BA910E3D9}"/>
            </a:ext>
          </a:extLst>
        </p:cNvPr>
        <p:cNvGrpSpPr/>
        <p:nvPr/>
      </p:nvGrpSpPr>
      <p:grpSpPr>
        <a:xfrm>
          <a:off x="0" y="0"/>
          <a:ext cx="0" cy="0"/>
          <a:chOff x="0" y="0"/>
          <a:chExt cx="0" cy="0"/>
        </a:xfrm>
      </p:grpSpPr>
      <p:pic>
        <p:nvPicPr>
          <p:cNvPr id="3" name="Picture 2" descr="A screenshot of a computer screen&#10;&#10;Description automatically generated">
            <a:extLst>
              <a:ext uri="{FF2B5EF4-FFF2-40B4-BE49-F238E27FC236}">
                <a16:creationId xmlns:a16="http://schemas.microsoft.com/office/drawing/2014/main" id="{A6A76D4A-E50B-A8F8-A00D-673641F34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36859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5F29E-669C-CCC7-F827-05E714DADC7D}"/>
            </a:ext>
          </a:extLst>
        </p:cNvPr>
        <p:cNvGrpSpPr/>
        <p:nvPr/>
      </p:nvGrpSpPr>
      <p:grpSpPr>
        <a:xfrm>
          <a:off x="0" y="0"/>
          <a:ext cx="0" cy="0"/>
          <a:chOff x="0" y="0"/>
          <a:chExt cx="0" cy="0"/>
        </a:xfrm>
      </p:grpSpPr>
      <p:pic>
        <p:nvPicPr>
          <p:cNvPr id="3" name="Picture 2" descr="A screenshot of a computer screen&#10;&#10;Description automatically generated">
            <a:extLst>
              <a:ext uri="{FF2B5EF4-FFF2-40B4-BE49-F238E27FC236}">
                <a16:creationId xmlns:a16="http://schemas.microsoft.com/office/drawing/2014/main" id="{731106E1-7FF9-DA0B-9F88-547DB8787A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336124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0CE1B-4AB8-1F42-C208-BFD8B7C08FDE}"/>
            </a:ext>
          </a:extLst>
        </p:cNvPr>
        <p:cNvGrpSpPr/>
        <p:nvPr/>
      </p:nvGrpSpPr>
      <p:grpSpPr>
        <a:xfrm>
          <a:off x="0" y="0"/>
          <a:ext cx="0" cy="0"/>
          <a:chOff x="0" y="0"/>
          <a:chExt cx="0" cy="0"/>
        </a:xfrm>
      </p:grpSpPr>
      <p:pic>
        <p:nvPicPr>
          <p:cNvPr id="3" name="Picture 2" descr="A screenshot of a computer screen&#10;&#10;Description automatically generated">
            <a:extLst>
              <a:ext uri="{FF2B5EF4-FFF2-40B4-BE49-F238E27FC236}">
                <a16:creationId xmlns:a16="http://schemas.microsoft.com/office/drawing/2014/main" id="{32161E5A-AA5C-3088-CF23-AAB98B61C4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92377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024AD-3820-CD7C-9993-A983DBF94682}"/>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8BB84349-650F-B648-8DCE-B0CEAA4E54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39840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0AD71-DAAF-BDDD-6C7A-A519D4EB6313}"/>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B7A139F7-5A19-C513-C482-C1DB9D5D58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56711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0E7CA-F2BD-EA0A-6999-15DDAD02CD0D}"/>
            </a:ext>
          </a:extLst>
        </p:cNvPr>
        <p:cNvGrpSpPr/>
        <p:nvPr/>
      </p:nvGrpSpPr>
      <p:grpSpPr>
        <a:xfrm>
          <a:off x="0" y="0"/>
          <a:ext cx="0" cy="0"/>
          <a:chOff x="0" y="0"/>
          <a:chExt cx="0" cy="0"/>
        </a:xfrm>
      </p:grpSpPr>
      <p:pic>
        <p:nvPicPr>
          <p:cNvPr id="3" name="Picture 2" descr="A screenshot of a computer">
            <a:extLst>
              <a:ext uri="{FF2B5EF4-FFF2-40B4-BE49-F238E27FC236}">
                <a16:creationId xmlns:a16="http://schemas.microsoft.com/office/drawing/2014/main" id="{0B6581CB-1CED-D539-B0BB-94C653013C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887011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1053</Words>
  <Application>Microsoft Office PowerPoint</Application>
  <PresentationFormat>Widescreen</PresentationFormat>
  <Paragraphs>61</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Arial MT</vt:lpstr>
      <vt:lpstr>Calibri</vt:lpstr>
      <vt:lpstr>Calibri Light</vt:lpstr>
      <vt:lpstr>Söhne</vt:lpstr>
      <vt:lpstr>Office Theme</vt:lpstr>
      <vt:lpstr>Team Details</vt:lpstr>
      <vt:lpstr>Problem Statement: Reinventing Parking Management with a Smart Parking System</vt:lpstr>
      <vt:lpstr>Proposed Solution: Smart Parking System Revolutionizing Mobility  </vt:lpstr>
      <vt:lpstr>Driving Change with Innovative Technology: The Smart Parking System Advantage</vt:lpstr>
      <vt:lpstr>Innovative Distinction: Unveiling the Uniqueness of the Smart Parking System  </vt:lpstr>
      <vt:lpstr>Working Prototype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DHRUV CHOUDHARY</dc:creator>
  <cp:lastModifiedBy>Balaji P</cp:lastModifiedBy>
  <cp:revision>4</cp:revision>
  <dcterms:created xsi:type="dcterms:W3CDTF">2023-08-26T17:03:11Z</dcterms:created>
  <dcterms:modified xsi:type="dcterms:W3CDTF">2024-02-21T17:40:01Z</dcterms:modified>
</cp:coreProperties>
</file>